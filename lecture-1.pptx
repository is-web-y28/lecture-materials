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89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5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HTML задаёт структуру и смысл страницы; сегодня не занимаемся красотой интерфейса.</a:t>
            </a:r>
          </a:p>
          <a:p>
            <a:pPr marL="0" indent="0"/>
            <a:r>
              <a:rPr lang="ru-RU" b="1" dirty="0"/>
              <a:t>• Зацепка:</a:t>
            </a:r>
            <a:r>
              <a:rPr lang="ru-RU" dirty="0"/>
              <a:t> спросить, что останется от сайта, если отключить CSS и JavaScript.</a:t>
            </a:r>
          </a:p>
          <a:p>
            <a:pPr marL="0" indent="0"/>
            <a:r>
              <a:rPr lang="ru-RU" b="1" dirty="0"/>
              <a:t>• Результат занятия:</a:t>
            </a:r>
            <a:r>
              <a:rPr lang="ru-RU" dirty="0"/>
              <a:t> студент сможет собрать корректный документ и осознанно выбрать теги и атрибуты.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сначала покажем маршрут лекции и договоримся, что именно нужно понять, а не заучить.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идти от работы браузера к синтаксису, затем к основным тегам и качеству разметки.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не нужно запоминать каталог HTML; важно понимать роли элементов и уметь пользоваться справочником.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предупредить о коротких вопросах и мини-разборах по ходу.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начнём с места HTML среди других технологий клиентской части.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HTML отвечает за «что это», CSS - «как выглядит», JavaScript - «как ведёт себя».</a:t>
            </a:r>
          </a:p>
          <a:p>
            <a:pPr marL="0" indent="0"/>
            <a:r>
              <a:rPr lang="ru-RU" b="1" dirty="0"/>
              <a:t>• Аналогия:</a:t>
            </a:r>
            <a:r>
              <a:rPr lang="ru-RU" dirty="0"/>
              <a:t> HTML - каркас и подписи помещений, CSS - отделка, JavaScript - двери, лифты и реакции.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хороший HTML остаётся понятным и полезным даже без оформления и интерактива.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теперь проследим, как HTML вообще попадает в браузер.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URL приводит к запросу, сервер возвращает ресурсы, браузер разбирает HTML и строит DOM.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браузер показывает не файл «как есть», а результат парсинга и возможных исправлений разметки.</a:t>
            </a:r>
          </a:p>
          <a:p>
            <a:pPr marL="0" indent="0"/>
            <a:r>
              <a:rPr lang="ru-RU" b="1" dirty="0"/>
              <a:t>• Демо:</a:t>
            </a:r>
            <a:r>
              <a:rPr lang="ru-RU" dirty="0"/>
              <a:t> открыть DevTools -&gt; Elements и показать, что именно видит браузер.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разберём, какой язык браузер получает и что он описывает.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HTML - HyperText Markup Language, декларативный язык разметки документов.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он описывает структуру, семантику и связи с ресурсами, но не сложную логику и не точный дизайн.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попросить привести примеры «что находится на странице» и «как это должно выглядеть».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чтобы говорить точно, разделим понятия тега, элемента и DOM-узла.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тег - запись в исходнике; элемент - конструкция целиком; DOM-узел - объект, созданный браузером.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текст внутри элемента тоже становится отдельным текстовым узлом.</a:t>
            </a:r>
          </a:p>
          <a:p>
            <a:pPr marL="0" indent="0"/>
            <a:r>
              <a:rPr lang="ru-RU" b="1" dirty="0"/>
              <a:t>• Демо:</a:t>
            </a:r>
            <a:r>
              <a:rPr lang="ru-RU" dirty="0"/>
              <a:t> сравнить View Source и вкладку Elements на странице с небольшой ошибкой в разметке.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теперь разберём элемент буквально по частям.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у элемента есть имя тега, атрибуты, содержимое и, для парных элементов, закрывающий тег.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атрибуты находятся в открывающем теге; несколько атрибутов разделяются пробелами.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попросить аудиторию показать в примере href, его значение и текст ссылки.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не у всех элементов одинаковая форма - есть парные и пустые.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парные элементы содержат контент, пустые (void) не имеют ни контента, ни закрывающего тега.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слэш в &lt;img /&gt; допустим, но в HTML не является обязательным «закрытием».</a:t>
            </a:r>
          </a:p>
          <a:p>
            <a:pPr marL="0" indent="0"/>
            <a:r>
              <a:rPr lang="ru-RU" b="1" dirty="0"/>
              <a:t>• Мини-проверка:</a:t>
            </a:r>
            <a:r>
              <a:rPr lang="ru-RU" dirty="0"/>
              <a:t> быстро классифицировать button, br, input, meta и p.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элементы можно вкладывать друг в друга, и из этого появляется дерево документа.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вложенность создаёт отношения «родитель - ребёнок - сосед» и формирует DOM-дерево.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отступы нужны людям для чтения; структуру браузер определяет по тегам.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спросить, кто родитель h1 и какие элементы являются соседними.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дерево должно быть построено корректно, иначе браузер начнёт исправлять его 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закрывать элементы нужно в обратном порядке - как скобки или матрёшки.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важен не только порядок закрытия, но и допустимые родители; например, прямые дети ul/ol - li.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дать 20-30 секунд найти ошибки в правой части слайда.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после правил вложенности соберём минимальный документ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это стартовый шаблон любого учебного HTML-файла.</a:t>
            </a:r>
          </a:p>
          <a:p>
            <a:pPr marL="0" indent="0"/>
            <a:r>
              <a:rPr lang="ru-RU" b="1" dirty="0"/>
              <a:t>• Разобрать:</a:t>
            </a:r>
            <a:r>
              <a:rPr lang="ru-RU" dirty="0"/>
              <a:t> doctype, html lang, head, charset, viewport, title и body - по одной функции на строку.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doctype - декларация, а не элемент; lang помогает определить язык документа.</a:t>
            </a:r>
          </a:p>
          <a:p>
            <a:pPr marL="0" indent="0"/>
            <a:r>
              <a:rPr lang="ru-RU" b="1" dirty="0"/>
              <a:t>• Демо:</a:t>
            </a:r>
            <a:r>
              <a:rPr lang="ru-RU" dirty="0"/>
              <a:t> создать index.html с нуля и сразу открыть его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head содержит метаданные и подключения, body - содержимое страницы.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невидимый head влияет на вкладку, поиск, мобильное отображение и загрузку ресурсов.</a:t>
            </a:r>
          </a:p>
          <a:p>
            <a:pPr marL="0" indent="0"/>
            <a:r>
              <a:rPr lang="ru-RU" b="1" dirty="0"/>
              <a:t>• Демо:</a:t>
            </a:r>
            <a:r>
              <a:rPr lang="ru-RU" dirty="0"/>
              <a:t> изменить title и показать результат во вкладке; кратко объяснить назначение defer.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прежде чем идти к атрибутам, разберём несколько особенностей текста в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обычные пробелы и переносы схлопываются; исходное форматирование не равно отображению.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комментарии видны в исходном коде, поэтому секреты в них хранить нельзя.</a:t>
            </a:r>
          </a:p>
          <a:p>
            <a:pPr marL="0" indent="0"/>
            <a:r>
              <a:rPr lang="ru-RU" b="1" dirty="0"/>
              <a:t>• Демо:</a:t>
            </a:r>
            <a:r>
              <a:rPr lang="ru-RU" dirty="0"/>
              <a:t> показать несколько пробелов, &amp;lt;, &amp;amp; и блок pre в браузере.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теперь можно перейти к настройкам элементов - атрибутам.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атрибуты уточняют данные и поведение конкретного элемента.</a:t>
            </a:r>
          </a:p>
          <a:p>
            <a:pPr marL="0" indent="0"/>
            <a:r>
              <a:rPr lang="ru-RU" b="1" dirty="0"/>
              <a:t>• Разобрать пример:</a:t>
            </a:r>
            <a:r>
              <a:rPr lang="ru-RU" dirty="0"/>
              <a:t> src - адрес, alt - смысл изображения, loading - стратегия загрузки.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синтаксис name="value"; порядок обычно не важен, кавычки - безопасная привычка.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часть атрибутов доступна почти любому элементу - это глобальные атрибуты.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глобальный не означает обязательный - атрибут должен решать понятную задачу.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id уникален на странице; class можно повторять и сочетать несколько классов.</a:t>
            </a:r>
          </a:p>
          <a:p>
            <a:pPr marL="0" indent="0"/>
            <a:r>
              <a:rPr lang="ru-RU" b="1" dirty="0"/>
              <a:t>• Коротко:</a:t>
            </a:r>
            <a:r>
              <a:rPr lang="ru-RU" dirty="0"/>
              <a:t> lang задаёт язык фрагмента, hidden скрывает, tabindex 0/-1 управляет фокусом, style лучше не злоупотреблять.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спросить, когда нужен id, а когда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булев атрибут истинен самим фактом присутствия; disabled="false" всё равно отключает кнопку.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data-* хранит прикладные данные для JavaScript, ARIA добавляет доступностную информацию.</a:t>
            </a:r>
          </a:p>
          <a:p>
            <a:pPr marL="0" indent="0"/>
            <a:r>
              <a:rPr lang="ru-RU" b="1" dirty="0"/>
              <a:t>• Правило:</a:t>
            </a:r>
            <a:r>
              <a:rPr lang="ru-RU" dirty="0"/>
              <a:t> сначала нативный HTML, затем ARIA только там, где нативной семантики не хватает.</a:t>
            </a:r>
          </a:p>
          <a:p>
            <a:pPr marL="0" indent="0"/>
            <a:r>
              <a:rPr lang="ru-RU" b="1" dirty="0"/>
              <a:t>• Демо и пауза:</a:t>
            </a:r>
            <a:r>
              <a:rPr lang="ru-RU" dirty="0"/>
              <a:t> изменить disabled в DevTools, затем сделать короткий мини-разбор перед блоком тегов.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h1-h6 задают иерархию документа, а p обозначает абзац.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уровень заголовка выбирают по структуре, не по желаемому размеру шрифта.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попросить построить план страницы из h1, h2 и h3 для знакомой темы.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внутри текста тоже важно выбирать элементы по смыслу.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семантическое выделение сообщает, почему фрагмент отличается от остального текста.</a:t>
            </a:r>
          </a:p>
          <a:p>
            <a:pPr marL="0" indent="0"/>
            <a:r>
              <a:rPr lang="ru-RU" b="1" dirty="0"/>
              <a:t>• Сравнить:</a:t>
            </a:r>
            <a:r>
              <a:rPr lang="ru-RU" dirty="0"/>
              <a:t> strong и b, em и i - внешний вид может совпасть, смысл различается.</a:t>
            </a:r>
          </a:p>
          <a:p>
            <a:pPr marL="0" indent="0"/>
            <a:r>
              <a:rPr lang="ru-RU" b="1" dirty="0"/>
              <a:t>• Примеры:</a:t>
            </a:r>
            <a:r>
              <a:rPr lang="ru-RU" dirty="0"/>
              <a:t> mark для актуального совпадения, small для второстепенного текста, del/ins для изменений.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есть и более специализированные элементы для кода, цитат, сокращений и дат.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специализированный тег делает назначение фрагмента понятным человеку и машине.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многострочный код обычно размечается связкой pre + code; kbd показывает ввод пользователя.</a:t>
            </a:r>
          </a:p>
          <a:p>
            <a:pPr marL="0" indent="0"/>
            <a:r>
              <a:rPr lang="ru-RU" b="1" dirty="0"/>
              <a:t>• Коротко:</a:t>
            </a:r>
            <a:r>
              <a:rPr lang="ru-RU" dirty="0"/>
              <a:t> blockquote/q - цитаты, abbr - сокращение, time + datetime - машиночитаемая дата.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когда элементов одного типа несколько, часто нужна структура списка.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ul - набор без порядка, ol - последовательность, dl - пары «термин - описание».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непосредственные дети ul и ol - элементы li; списки можно вкладывать.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выбрать тип списка для рецепта, меню сайта и словаря терминов.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списки часто образуют навигацию, а навигация строится на ссылках.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a с href ведёт к ресурсу или месту; кнопка выполняет действие - не смешивать роли.</a:t>
            </a:r>
          </a:p>
          <a:p>
            <a:pPr marL="0" indent="0"/>
            <a:r>
              <a:rPr lang="ru-RU" b="1" dirty="0"/>
              <a:t>• Показать варианты:</a:t>
            </a:r>
            <a:r>
              <a:rPr lang="ru-RU" dirty="0"/>
              <a:t> обычный URL, #якорь, mailto, tel, download и внешняя вкладка.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при target="_blank" использовать rel="noopener"; содержимым ссылки может быть не только текст.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чтобы ссылки и изображения работали, нужно уверенно читать пути.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относительный путь вычисляется от адреса текущего документа, а не от «корня компьютера».</a:t>
            </a:r>
          </a:p>
          <a:p>
            <a:pPr marL="0" indent="0"/>
            <a:r>
              <a:rPr lang="ru-RU" b="1" dirty="0"/>
              <a:t>• Разобрать:</a:t>
            </a:r>
            <a:r>
              <a:rPr lang="ru-RU" dirty="0"/>
              <a:t> полный URL, путь от корня сайта, от текущей папки, ../ и #id.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вместе вычислить путь из pages/about.html к img/logo.svg.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локальные пути C:\Users\... не работают у других людей и на сервере.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img подключает изображение, а alt передаёт его смысл или функцию.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информативному изображению нужен содержательный alt, декоративному - alt="".</a:t>
            </a:r>
          </a:p>
          <a:p>
            <a:pPr marL="0" indent="0"/>
            <a:r>
              <a:rPr lang="ru-RU" b="1" dirty="0"/>
              <a:t>• Пояснить:</a:t>
            </a:r>
            <a:r>
              <a:rPr lang="ru-RU" dirty="0"/>
              <a:t> width/height уменьшают скачки макета; figure + figcaption объединяют материал и подпись.</a:t>
            </a:r>
          </a:p>
          <a:p>
            <a:pPr marL="0" indent="0"/>
            <a:r>
              <a:rPr lang="ru-RU" b="1" dirty="0"/>
              <a:t>• Демо:</a:t>
            </a:r>
            <a:r>
              <a:rPr lang="ru-RU" dirty="0"/>
              <a:t> временно сломать src и посмотреть, какую роль играет 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семантические контейнеры описывают назначение крупных областей страницы.</a:t>
            </a:r>
          </a:p>
          <a:p>
            <a:pPr marL="0" indent="0"/>
            <a:r>
              <a:rPr lang="ru-RU" b="1" dirty="0"/>
              <a:t>• Различить:</a:t>
            </a:r>
            <a:r>
              <a:rPr lang="ru-RU" dirty="0"/>
              <a:t> article самодостаточен, section объединяет тематический раздел, aside содержит связанный материал.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main - основной контент; nav - значимая навигация; header/footer могут встречаться внутри разделов.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разобрать новостную страницу и решить, где article, section и aside.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div и span - нейтральные обёртки, когда подходящего семантического элемента нет.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«блочный» и «строчный» - CSS-поведение по умолчанию, а не вечный тип элемента.</a:t>
            </a:r>
          </a:p>
          <a:p>
            <a:pPr marL="0" indent="0"/>
            <a:r>
              <a:rPr lang="ru-RU" b="1" dirty="0"/>
              <a:t>• Антипаттерн:</a:t>
            </a:r>
            <a:r>
              <a:rPr lang="ru-RU" dirty="0"/>
              <a:t> div-soup затрудняет чтение, доступность и поддержку.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следующий специализированный контейнер нужен для данных с рядами и столбцами.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table используется только там, где важны отношения строк и столбцов.</a:t>
            </a:r>
          </a:p>
          <a:p>
            <a:pPr marL="0" indent="0"/>
            <a:r>
              <a:rPr lang="ru-RU" b="1" dirty="0"/>
              <a:t>• Разобрать роли:</a:t>
            </a:r>
            <a:r>
              <a:rPr lang="ru-RU" dirty="0"/>
              <a:t> caption, thead/tbody, tr, th, td и scope.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спросить, что является таблицей - расписание, карточка товара или двухколоночный макет.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таблица для раскладки страницы - устаревший и недоступный подход.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form объединяет поля и описывает способ отправки данных.</a:t>
            </a:r>
          </a:p>
          <a:p>
            <a:pPr marL="0" indent="0"/>
            <a:r>
              <a:rPr lang="ru-RU" b="1" dirty="0"/>
              <a:t>• Ключевой паттерн:</a:t>
            </a:r>
            <a:r>
              <a:rPr lang="ru-RU" dirty="0"/>
              <a:t> label for совпадает с input id; клик по подписи переводит фокус в поле.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name становится именем значения при отправке; button type="submit" запускает отправку.</a:t>
            </a:r>
          </a:p>
          <a:p>
            <a:pPr marL="0" indent="0"/>
            <a:r>
              <a:rPr lang="ru-RU" b="1" dirty="0"/>
              <a:t>• Коротко:</a:t>
            </a:r>
            <a:r>
              <a:rPr lang="ru-RU" dirty="0"/>
              <a:t> GET и POST - разные способы передачи запроса, подробности будут позже.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правильный type сообщает браузеру, какие данные ожидаются, и включает подходящую клавиатуру и проверку.</a:t>
            </a:r>
          </a:p>
          <a:p>
            <a:pPr marL="0" indent="0"/>
            <a:r>
              <a:rPr lang="ru-RU" b="1" dirty="0"/>
              <a:t>• Сравнить:</a:t>
            </a:r>
            <a:r>
              <a:rPr lang="ru-RU" dirty="0"/>
              <a:t> checkbox для независимых вариантов, radio для одного выбора; textarea и select для других сценариев.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required, min/max, pattern, autocomplete и multiple уточняют ограничения.</a:t>
            </a:r>
          </a:p>
          <a:p>
            <a:pPr marL="0" indent="0"/>
            <a:r>
              <a:rPr lang="ru-RU" b="1" dirty="0"/>
              <a:t>• Правило:</a:t>
            </a:r>
            <a:r>
              <a:rPr lang="ru-RU" dirty="0"/>
              <a:t> placeholder - пример или подсказка, но не замена постоянному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video и audio дают нативное воспроизведение, iframe встраивает отдельный внешний контекст.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controls для управления, track для субтитров, текстовая расшифровка как альтернатива.</a:t>
            </a:r>
          </a:p>
          <a:p>
            <a:pPr marL="0" indent="0"/>
            <a:r>
              <a:rPr lang="ru-RU" b="1" dirty="0"/>
              <a:t>• Для iframe:</a:t>
            </a:r>
            <a:r>
              <a:rPr lang="ru-RU" dirty="0"/>
              <a:t> понятный title, loading="lazy" и разумные ограничения sandbox.</a:t>
            </a:r>
          </a:p>
          <a:p>
            <a:pPr marL="0" indent="0"/>
            <a:r>
              <a:rPr lang="ru-RU" b="1" dirty="0"/>
              <a:t>• Не углубляться:</a:t>
            </a:r>
            <a:r>
              <a:rPr lang="ru-RU" dirty="0"/>
              <a:t> это обзор синтаксиса; главная идея - доступность и контроль прав.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доступность начинается не с ARIA, а с правильных нативных элементов.</a:t>
            </a:r>
          </a:p>
          <a:p>
            <a:pPr marL="0" indent="0"/>
            <a:r>
              <a:rPr lang="ru-RU" b="1" dirty="0"/>
              <a:t>• Сопоставить роли:</a:t>
            </a:r>
            <a:r>
              <a:rPr lang="ru-RU" dirty="0"/>
              <a:t> button - действие, a - переход, label - подпись поля, alt - смысл изображения, lang - язык.</a:t>
            </a:r>
          </a:p>
          <a:p>
            <a:pPr marL="0" indent="0"/>
            <a:r>
              <a:rPr lang="ru-RU" b="1" dirty="0"/>
              <a:t>• Демо:</a:t>
            </a:r>
            <a:r>
              <a:rPr lang="ru-RU" dirty="0"/>
              <a:t> пройти по форме клавишей Tab и активировать элементы клавишами Enter/Space.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семантика помогает скринридерам, поиску, клавиатуре и разработчикам одновременно.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«браузер что-то показал» ещё не означает, что разметка корректна.</a:t>
            </a:r>
          </a:p>
          <a:p>
            <a:pPr marL="0" indent="0"/>
            <a:r>
              <a:rPr lang="ru-RU" b="1" dirty="0"/>
              <a:t>• Разобрать ошибки:</a:t>
            </a:r>
            <a:r>
              <a:rPr lang="ru-RU" dirty="0"/>
              <a:t> пересечение тегов, дубли id, неверная модель содержимого, отсутствие alt/label, локальные пути.</a:t>
            </a:r>
          </a:p>
          <a:p>
            <a:pPr marL="0" indent="0"/>
            <a:r>
              <a:rPr lang="ru-RU" b="1" dirty="0"/>
              <a:t>• Рабочий цикл:</a:t>
            </a:r>
            <a:r>
              <a:rPr lang="ru-RU" dirty="0"/>
              <a:t> открыть -&gt; Elements -&gt; клавиатура -&gt; Nu HTML Checker -&gt; исправить.</a:t>
            </a:r>
          </a:p>
          <a:p>
            <a:pPr marL="0" indent="0"/>
            <a:r>
              <a:rPr lang="ru-RU" b="1" dirty="0"/>
              <a:t>• Демо:</a:t>
            </a:r>
            <a:r>
              <a:rPr lang="ru-RU" dirty="0"/>
              <a:t> намеренно сломать один тег и показать, как браузер перестроил 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теги удобнее запоминать не списком, а группами по назначению.</a:t>
            </a:r>
          </a:p>
          <a:p>
            <a:pPr marL="0" indent="0"/>
            <a:r>
              <a:rPr lang="ru-RU" b="1" dirty="0"/>
              <a:t>• Стратегия выбора:</a:t>
            </a:r>
            <a:r>
              <a:rPr lang="ru-RU" dirty="0"/>
              <a:t> сначала спросить «что это за контент?», затем выбрать семантический элемент и проверить справочник.</a:t>
            </a:r>
          </a:p>
          <a:p>
            <a:pPr marL="0" indent="0"/>
            <a:r>
              <a:rPr lang="ru-RU" b="1" dirty="0"/>
              <a:t>• Вовлечение:</a:t>
            </a:r>
            <a:r>
              <a:rPr lang="ru-RU" dirty="0"/>
              <a:t> попросить назвать по одному тегу из каждой группы и коротко объяснить его роль.</a:t>
            </a:r>
          </a:p>
          <a:p>
            <a:pPr marL="0" indent="0"/>
            <a:r>
              <a:rPr lang="ru-RU" b="1" dirty="0"/>
              <a:t>• Переход:</a:t>
            </a:r>
            <a:r>
              <a:rPr lang="ru-RU" dirty="0"/>
              <a:t> завершим четырьмя идеями, которые должны остаться после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ru-RU" b="1" dirty="0"/>
              <a:t>• Смысл:</a:t>
            </a:r>
            <a:r>
              <a:rPr lang="ru-RU" dirty="0"/>
              <a:t> HTML - структура, смысл и связи; теги создают элементы, атрибуты их уточняют.</a:t>
            </a:r>
          </a:p>
          <a:p>
            <a:pPr marL="0" indent="0"/>
            <a:r>
              <a:rPr lang="ru-RU" b="1" dirty="0"/>
              <a:t>• Акцент:</a:t>
            </a:r>
            <a:r>
              <a:rPr lang="ru-RU" dirty="0"/>
              <a:t> семантика переживает смену дизайна; качество проверяется инструментами и клавиатурой.</a:t>
            </a:r>
          </a:p>
          <a:p>
            <a:pPr marL="0" indent="0"/>
            <a:r>
              <a:rPr lang="ru-RU" b="1" dirty="0"/>
              <a:t>• Закрепление:</a:t>
            </a:r>
            <a:r>
              <a:rPr lang="ru-RU" dirty="0"/>
              <a:t> попросить каждого назвать один тег, один атрибут и одну проверку качества.</a:t>
            </a:r>
          </a:p>
          <a:p>
            <a:pPr marL="0" indent="0"/>
            <a:r>
              <a:rPr lang="ru-RU" b="1" dirty="0"/>
              <a:t>• Финал:</a:t>
            </a:r>
            <a:r>
              <a:rPr lang="ru-RU" dirty="0"/>
              <a:t> оставить время на вопросы и сформулировать следующий практический шаг - собрать и проверить свою страницу.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53" y="22860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6400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F06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0515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86384" y="196596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DC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Структура, теги, атрибуты</a:t>
            </a:r>
            <a:endParaRPr lang="en-US" sz="2900" dirty="0"/>
          </a:p>
          <a:p>
            <a:pPr marL="0" indent="0">
              <a:buNone/>
            </a:pPr>
            <a:r>
              <a:rPr lang="en-US" sz="2900" dirty="0">
                <a:solidFill>
                  <a:srgbClr val="DC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основные элементы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86384" y="3794760"/>
            <a:ext cx="3657600" cy="0"/>
          </a:xfrm>
          <a:prstGeom prst="line">
            <a:avLst/>
          </a:prstGeom>
          <a:noFill/>
          <a:ln w="50800">
            <a:solidFill>
              <a:srgbClr val="F06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40965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Дробышев </a:t>
            </a:r>
            <a:r>
              <a:rPr lang="en-US" sz="17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86384" y="44897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старший разработчик · Яндекс Еда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214884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2C1B14"/>
          </a:solidFill>
          <a:ln w="15240">
            <a:solidFill>
              <a:srgbClr val="F065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2185416"/>
            <a:ext cx="1216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31546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42348"/>
          </a:solidFill>
          <a:ln w="1524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58584" y="3191256"/>
            <a:ext cx="1261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CB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509760" y="31546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2382A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64624" y="3191256"/>
            <a:ext cx="1261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8E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41746"/>
          </a:solidFill>
          <a:ln w="15240">
            <a:solidFill>
              <a:srgbClr val="7C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419709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CA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69680" y="41605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0363B"/>
          </a:solidFill>
          <a:ln w="15240">
            <a:solidFill>
              <a:srgbClr val="0F9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24544" y="419709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FE2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469880" y="41605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C2A0D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24744" y="419709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D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 flipH="1">
            <a:off x="7589520" y="2651760"/>
            <a:ext cx="1207008" cy="466344"/>
          </a:xfrm>
          <a:prstGeom prst="line">
            <a:avLst/>
          </a:prstGeom>
          <a:noFill/>
          <a:ln w="16510">
            <a:solidFill>
              <a:srgbClr val="5364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96528" y="2651760"/>
            <a:ext cx="1399032" cy="502920"/>
          </a:xfrm>
          <a:prstGeom prst="line">
            <a:avLst/>
          </a:prstGeom>
          <a:noFill/>
          <a:ln w="16510">
            <a:solidFill>
              <a:srgbClr val="5364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6903719" y="3657600"/>
            <a:ext cx="685801" cy="502918"/>
          </a:xfrm>
          <a:prstGeom prst="line">
            <a:avLst/>
          </a:prstGeom>
          <a:noFill/>
          <a:ln w="16510">
            <a:solidFill>
              <a:srgbClr val="5364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9281160" y="3657600"/>
            <a:ext cx="914400" cy="539496"/>
          </a:xfrm>
          <a:prstGeom prst="line">
            <a:avLst/>
          </a:prstGeom>
          <a:noFill/>
          <a:ln w="16510">
            <a:solidFill>
              <a:srgbClr val="5364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95560" y="3657600"/>
            <a:ext cx="914400" cy="502920"/>
          </a:xfrm>
          <a:prstGeom prst="line">
            <a:avLst/>
          </a:prstGeom>
          <a:noFill/>
          <a:ln w="16510">
            <a:solidFill>
              <a:srgbClr val="5364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ЗАНЯТИЯ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успеем сегодня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38988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527048"/>
            <a:ext cx="713232" cy="438912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5910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3936" y="1554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браузер получает и читает HTML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784080" y="157276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160934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23317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2468880"/>
            <a:ext cx="713232" cy="438912"/>
          </a:xfrm>
          <a:prstGeom prst="roundRect">
            <a:avLst>
              <a:gd name="adj" fmla="val 25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532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73936" y="2496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Теги, элементы, вложенность и DOM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784080" y="25146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57232" y="255117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327355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410712"/>
            <a:ext cx="713232" cy="438912"/>
          </a:xfrm>
          <a:prstGeom prst="roundRect">
            <a:avLst>
              <a:gd name="adj" fmla="val 25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474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73936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Атрибуты и пути к ресурсам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784080" y="3456432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7232" y="349300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" y="421538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" y="4352544"/>
            <a:ext cx="713232" cy="438912"/>
          </a:xfrm>
          <a:prstGeom prst="roundRect">
            <a:avLst>
              <a:gd name="adj" fmla="val 25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44165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73936" y="43799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теги: текст, медиа, таблицы, формы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9784080" y="439826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7232" y="443484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" y="515721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7824" y="5294376"/>
            <a:ext cx="713232" cy="438912"/>
          </a:xfrm>
          <a:prstGeom prst="roundRect">
            <a:avLst>
              <a:gd name="adj" fmla="val 25000"/>
            </a:avLst>
          </a:prstGeom>
          <a:solidFill>
            <a:srgbClr val="E8F8FA"/>
          </a:solidFill>
          <a:ln w="12700">
            <a:solidFill>
              <a:srgbClr val="E8F8F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35838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73936" y="5321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Семантика, доступность и практика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9784080" y="5340096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8F8FA"/>
          </a:solidFill>
          <a:ln w="12700">
            <a:solidFill>
              <a:srgbClr val="E8F8F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57232" y="537667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3232" y="6126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рассчитан на одну насыщенную лекцию с короткими мини‑разборами по ходу.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слоя клиентской части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44752"/>
            <a:ext cx="3255264" cy="443484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50976" y="1773936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1051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&lt;article&gt;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23957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50976" y="28712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и смысл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7552" y="3657600"/>
            <a:ext cx="109728" cy="109728"/>
          </a:xfrm>
          <a:prstGeom prst="ellipse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547872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находится на странице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87552" y="4425696"/>
            <a:ext cx="109728" cy="109728"/>
          </a:xfrm>
          <a:prstGeom prst="ellipse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315968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части связаны между собой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142232" y="1444752"/>
            <a:ext cx="3255264" cy="443484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773936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81051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.card { 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23957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34840" y="28712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вид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71416" y="3657600"/>
            <a:ext cx="109728" cy="10972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547872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элементы выглядят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471416" y="4425696"/>
            <a:ext cx="109728" cy="10972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4315968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 какого они размера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626096" y="1444752"/>
            <a:ext cx="3255264" cy="443484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18704" y="1773936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91856" y="181051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addEventListener()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18704" y="23957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918704" y="28712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Поведение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55280" y="3657600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4736" y="3547872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 при действиях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955280" y="4425696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4736" y="4315968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меняются данные и интерфейс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05156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разбираем первый слой — HTML. CSS и JavaScript будут опираться на созданную им структуру.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URL до страницы в браузере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011680"/>
            <a:ext cx="658368" cy="658368"/>
          </a:xfrm>
          <a:prstGeom prst="ellipse">
            <a:avLst/>
          </a:prstGeom>
          <a:solidFill>
            <a:srgbClr val="EAF1FF"/>
          </a:solidFill>
          <a:ln w="15240">
            <a:solidFill>
              <a:srgbClr val="2F6F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143354"/>
            <a:ext cx="6583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0624" y="28529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10312" y="3200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 ресурса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99616" y="2340864"/>
            <a:ext cx="1344168" cy="0"/>
          </a:xfrm>
          <a:prstGeom prst="line">
            <a:avLst/>
          </a:prstGeom>
          <a:noFill/>
          <a:ln w="2159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71800" y="2011680"/>
            <a:ext cx="658368" cy="658368"/>
          </a:xfrm>
          <a:prstGeom prst="ellipse">
            <a:avLst/>
          </a:prstGeom>
          <a:solidFill>
            <a:srgbClr val="F0ECFF"/>
          </a:solidFill>
          <a:ln w="1524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143354"/>
            <a:ext cx="6583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79192" y="28529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468880" y="3200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HTTPS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58184" y="2340864"/>
            <a:ext cx="1344168" cy="0"/>
          </a:xfrm>
          <a:prstGeom prst="line">
            <a:avLst/>
          </a:prstGeom>
          <a:noFill/>
          <a:ln w="2159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30368" y="2011680"/>
            <a:ext cx="658368" cy="658368"/>
          </a:xfrm>
          <a:prstGeom prst="ellipse">
            <a:avLst/>
          </a:prstGeom>
          <a:solidFill>
            <a:srgbClr val="FFF0E9"/>
          </a:solidFill>
          <a:ln w="15240">
            <a:solidFill>
              <a:srgbClr val="F065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143354"/>
            <a:ext cx="6583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937760" y="28529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727448" y="3200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возвращает файлы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16752" y="2340864"/>
            <a:ext cx="1371600" cy="0"/>
          </a:xfrm>
          <a:prstGeom prst="line">
            <a:avLst/>
          </a:prstGeom>
          <a:noFill/>
          <a:ln w="2159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16368" y="2011680"/>
            <a:ext cx="658368" cy="658368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2143354"/>
            <a:ext cx="6583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223760" y="28529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Парсер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013448" y="3200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 DOM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02752" y="2340864"/>
            <a:ext cx="1371600" cy="0"/>
          </a:xfrm>
          <a:prstGeom prst="line">
            <a:avLst/>
          </a:prstGeom>
          <a:noFill/>
          <a:ln w="2159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02368" y="2011680"/>
            <a:ext cx="658368" cy="658368"/>
          </a:xfrm>
          <a:prstGeom prst="ellipse">
            <a:avLst/>
          </a:prstGeom>
          <a:solidFill>
            <a:srgbClr val="E8F8FA"/>
          </a:solidFill>
          <a:ln w="15240">
            <a:solidFill>
              <a:srgbClr val="0F9A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02368" y="2143354"/>
            <a:ext cx="6583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509760" y="28529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299448" y="3200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рендерит страницу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1832" y="425196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234440" y="4535424"/>
            <a:ext cx="9646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не «показывает файл как есть». Он разбирает HTML, создаёт дерево объектов (DOM), затем применяет CSS и выполняет JavaScript.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822192" y="5623560"/>
            <a:ext cx="452628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5344" y="56601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→ Elements показывает итоговый DOM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HTML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08176"/>
            <a:ext cx="4846320" cy="4498848"/>
          </a:xfrm>
          <a:prstGeom prst="roundRect">
            <a:avLst>
              <a:gd name="adj" fmla="val 1626"/>
            </a:avLst>
          </a:prstGeom>
          <a:solidFill>
            <a:srgbClr val="FFF0E9"/>
          </a:solidFill>
          <a:ln w="12700">
            <a:solidFill>
              <a:srgbClr val="FFD2C0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856232"/>
            <a:ext cx="4160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HyperText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Language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987552" y="32644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гипертекстовой разметки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05840" y="3968496"/>
            <a:ext cx="109728" cy="109728"/>
          </a:xfrm>
          <a:prstGeom prst="ellipse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3858768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описывает структуру документа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4507992"/>
            <a:ext cx="109728" cy="109728"/>
          </a:xfrm>
          <a:prstGeom prst="ellipse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4398264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задаёт смысл частей контента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5047488"/>
            <a:ext cx="109728" cy="109728"/>
          </a:xfrm>
          <a:prstGeom prst="ellipse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493776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связывает страницы и ресурсы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06440" y="1408176"/>
            <a:ext cx="5733288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9632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не отвечает за всё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236208" y="2514600"/>
            <a:ext cx="310896" cy="310896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576779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65976" y="2505456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и семантика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236208" y="3136392"/>
            <a:ext cx="310896" cy="310896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3198571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65976" y="3127248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 на изображения, стили и скрипты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236208" y="3968496"/>
            <a:ext cx="310896" cy="310896"/>
          </a:xfrm>
          <a:prstGeom prst="ellipse">
            <a:avLst/>
          </a:prstGeom>
          <a:solidFill>
            <a:srgbClr val="FDECEC"/>
          </a:solidFill>
          <a:ln w="15240">
            <a:solidFill>
              <a:srgbClr val="D94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4030675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65976" y="3959352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сложная логика и вычисления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236208" y="4590288"/>
            <a:ext cx="310896" cy="310896"/>
          </a:xfrm>
          <a:prstGeom prst="ellipse">
            <a:avLst/>
          </a:prstGeom>
          <a:solidFill>
            <a:srgbClr val="FDECEC"/>
          </a:solidFill>
          <a:ln w="15240">
            <a:solidFill>
              <a:srgbClr val="D94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4652467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65976" y="4581144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точное визуальное оформление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217920" y="53126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i="1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декларативный язык разметки, а не язык программирования.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Тег, элемент и DOM‑узел — не одно и то же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72768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50976" y="185623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928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2487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Синтаксис в исходном тексте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50976" y="3401568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5935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  и  &lt;/p&gt;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950976" y="440740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Открывающий и закрывающий тег — две отдельные записи.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4105656" y="1572768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98264" y="185623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18928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98264" y="2487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Конструкция целиком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4398264" y="3401568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35935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&lt;p&gt;Привет!&lt;/p&gt;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4398264" y="440740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 включает теги, атрибуты и содержимое.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7552944" y="1572768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45552" y="185623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18704" y="18928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DOM‑узел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45552" y="2487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Объект, созданный браузером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7845552" y="3401568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1856" y="35935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HTMLParagraphElement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7845552" y="440740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и DevTools работают с объектами DOM.</a:t>
            </a:r>
            <a:endParaRPr lang="en-US" sz="1360" dirty="0"/>
          </a:p>
        </p:txBody>
      </p:sp>
      <p:sp>
        <p:nvSpPr>
          <p:cNvPr id="29" name="Text 27"/>
          <p:cNvSpPr/>
          <p:nvPr/>
        </p:nvSpPr>
        <p:spPr>
          <a:xfrm>
            <a:off x="2011680" y="60076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внутри элемента тоже становится отдельным текстовым узлом.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Анатомия HTML‑элемента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490472"/>
            <a:ext cx="1060704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43584" y="2423160"/>
            <a:ext cx="9692640" cy="932688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26883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92224" y="26883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93046" y="2686326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CB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82739" y="2648745"/>
            <a:ext cx="2014695" cy="336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BE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"nav-link"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79730" y="2680297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CB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86154" y="2680297"/>
            <a:ext cx="18092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BE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"/about"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66760" y="26883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05672" y="2661105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 нас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84080" y="2661105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22992" y="2661105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451592" y="2661105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901952" y="3419856"/>
            <a:ext cx="0" cy="667512"/>
          </a:xfrm>
          <a:prstGeom prst="line">
            <a:avLst/>
          </a:prstGeom>
          <a:noFill/>
          <a:ln w="16510">
            <a:solidFill>
              <a:srgbClr val="F065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5376" y="3374136"/>
            <a:ext cx="73152" cy="73152"/>
          </a:xfrm>
          <a:prstGeom prst="ellipse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3312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тега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73552" y="3419856"/>
            <a:ext cx="0" cy="1399032"/>
          </a:xfrm>
          <a:prstGeom prst="line">
            <a:avLst/>
          </a:prstGeom>
          <a:noFill/>
          <a:ln w="16510">
            <a:solidFill>
              <a:srgbClr val="2F6F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6976" y="3374136"/>
            <a:ext cx="73152" cy="73152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4892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06240" y="3419856"/>
            <a:ext cx="0" cy="667512"/>
          </a:xfrm>
          <a:prstGeom prst="line">
            <a:avLst/>
          </a:prstGeom>
          <a:noFill/>
          <a:ln w="16510">
            <a:solidFill>
              <a:srgbClr val="1FA9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9664" y="3374136"/>
            <a:ext cx="73152" cy="73152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12857" y="3419856"/>
            <a:ext cx="3" cy="1444148"/>
          </a:xfrm>
          <a:prstGeom prst="line">
            <a:avLst/>
          </a:prstGeom>
          <a:noFill/>
          <a:ln w="16510">
            <a:solidFill>
              <a:srgbClr val="7C4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6281" y="3378457"/>
            <a:ext cx="73152" cy="7315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3" y="490058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 + значение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3999" y="3429000"/>
            <a:ext cx="0" cy="493776"/>
          </a:xfrm>
          <a:prstGeom prst="line">
            <a:avLst/>
          </a:prstGeom>
          <a:noFill/>
          <a:ln w="16510">
            <a:solidFill>
              <a:srgbClr val="0F9A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07417" y="3355848"/>
            <a:ext cx="73152" cy="73152"/>
          </a:xfrm>
          <a:prstGeom prst="ellipse">
            <a:avLst/>
          </a:prstGeom>
          <a:solidFill>
            <a:srgbClr val="0F9AA8"/>
          </a:solidFill>
          <a:ln w="12700">
            <a:solidFill>
              <a:srgbClr val="0F9AA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38496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содержимое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222989" y="3439248"/>
            <a:ext cx="1" cy="1277750"/>
          </a:xfrm>
          <a:prstGeom prst="line">
            <a:avLst/>
          </a:prstGeom>
          <a:noFill/>
          <a:ln w="16510">
            <a:solidFill>
              <a:srgbClr val="D94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95553" y="3355848"/>
            <a:ext cx="73152" cy="73152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11631" y="487244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закрывающий тег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89504" y="5961888"/>
            <a:ext cx="640080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62656" y="5998464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тега пишется без пробелов; значения атрибутов обычно заключают в кавычки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Парные и пустые элементы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87552" y="17373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77393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Парные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87552" y="23317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открывающий тег, содержимое и закрывающий тег.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87552" y="3063240"/>
            <a:ext cx="4736592" cy="2240280"/>
          </a:xfrm>
          <a:prstGeom prst="roundRect">
            <a:avLst>
              <a:gd name="adj" fmla="val 326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87552" y="3063240"/>
            <a:ext cx="4736592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2144" y="319125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6736" y="319125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1328" y="319125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88720" y="3557016"/>
            <a:ext cx="43342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Абзац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Отправить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r>
              <a:rPr lang="en-US" sz="12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291072" y="1417320"/>
            <a:ext cx="5248656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0256" y="173736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177393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Пустые (void)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0256" y="23317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имеют содержимого и закрывающего тега.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20256" y="3063240"/>
            <a:ext cx="4590288" cy="2240280"/>
          </a:xfrm>
          <a:prstGeom prst="roundRect">
            <a:avLst>
              <a:gd name="adj" fmla="val 326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0256" y="3063240"/>
            <a:ext cx="4590288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84848" y="319125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319125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319125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67544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21424" y="3557016"/>
            <a:ext cx="41879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src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cat.jpg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Кот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type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charset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UTF-8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2176272" y="609904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HTML запись &lt;img /&gt; допустима, но слэш не «закрывает» элемент и не обязателен.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Вложенность превращает разметку в дерево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444752"/>
            <a:ext cx="5010912" cy="4553712"/>
          </a:xfrm>
          <a:prstGeom prst="roundRect">
            <a:avLst>
              <a:gd name="adj" fmla="val 1606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1444752"/>
            <a:ext cx="5010912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572768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572768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1572768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536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38528"/>
            <a:ext cx="460857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Новости курса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Первая лекция — про HTML.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5989320" y="1444752"/>
            <a:ext cx="5541264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36792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DOM‑дерево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982712" y="233172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0E9"/>
          </a:solidFill>
          <a:ln w="15240">
            <a:solidFill>
              <a:srgbClr val="F065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7576" y="2368296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6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82712" y="3273552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37576" y="3310128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4315968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15240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4352544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710928" y="4315968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0ECFF"/>
          </a:solidFill>
          <a:ln w="1524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65792" y="4352544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81344" y="5230368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E8F8FA"/>
          </a:solidFill>
          <a:ln w="15240">
            <a:solidFill>
              <a:srgbClr val="0F9A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526694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#text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28048" y="5230368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E8F8FA"/>
          </a:solidFill>
          <a:ln w="15240">
            <a:solidFill>
              <a:srgbClr val="0F9A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82912" y="526694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#text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78240" y="2834640"/>
            <a:ext cx="0" cy="438912"/>
          </a:xfrm>
          <a:prstGeom prst="line">
            <a:avLst/>
          </a:prstGeom>
          <a:noFill/>
          <a:ln w="16510">
            <a:solidFill>
              <a:srgbClr val="9AA7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7287768" y="3776472"/>
            <a:ext cx="1490472" cy="502920"/>
          </a:xfrm>
          <a:prstGeom prst="line">
            <a:avLst/>
          </a:prstGeom>
          <a:noFill/>
          <a:ln w="16510">
            <a:solidFill>
              <a:srgbClr val="9AA7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0" y="3776472"/>
            <a:ext cx="1600200" cy="539496"/>
          </a:xfrm>
          <a:prstGeom prst="line">
            <a:avLst/>
          </a:prstGeom>
          <a:noFill/>
          <a:ln w="16510">
            <a:solidFill>
              <a:srgbClr val="9AA7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4773168"/>
            <a:ext cx="0" cy="457200"/>
          </a:xfrm>
          <a:prstGeom prst="line">
            <a:avLst/>
          </a:prstGeom>
          <a:noFill/>
          <a:ln w="16510">
            <a:solidFill>
              <a:srgbClr val="9AA7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78440" y="4773168"/>
            <a:ext cx="0" cy="457200"/>
          </a:xfrm>
          <a:prstGeom prst="line">
            <a:avLst/>
          </a:prstGeom>
          <a:noFill/>
          <a:ln w="16510">
            <a:solidFill>
              <a:srgbClr val="9AA7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10928" y="29352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52360" y="3977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дочерние элементы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Корректная вложенность и форматирование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35608"/>
            <a:ext cx="5413248" cy="4498848"/>
          </a:xfrm>
          <a:prstGeom prst="roundRect">
            <a:avLst>
              <a:gd name="adj" fmla="val 1626"/>
            </a:avLst>
          </a:prstGeom>
          <a:solidFill>
            <a:srgbClr val="EAF8F2"/>
          </a:solidFill>
          <a:ln w="12700">
            <a:solidFill>
              <a:srgbClr val="BEE9D5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87552" y="174650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DF5E9"/>
          </a:solidFill>
          <a:ln w="12700">
            <a:solidFill>
              <a:srgbClr val="DDF5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7830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Корректно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7552" y="2331720"/>
            <a:ext cx="4754880" cy="3090672"/>
          </a:xfrm>
          <a:prstGeom prst="roundRect">
            <a:avLst>
              <a:gd name="adj" fmla="val 236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33172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" y="24597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6736" y="24597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1328" y="24597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423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88720" y="2825496"/>
            <a:ext cx="4352544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Текст с 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акцентом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
</a:t>
            </a:r>
            <a:r>
              <a:rPr lang="en-US" sz="11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Первый пункт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Второй пункт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r>
              <a:rPr lang="en-US" sz="11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6309360" y="1435608"/>
            <a:ext cx="5230368" cy="4498848"/>
          </a:xfrm>
          <a:prstGeom prst="roundRect">
            <a:avLst>
              <a:gd name="adj" fmla="val 1626"/>
            </a:avLst>
          </a:prstGeom>
          <a:solidFill>
            <a:srgbClr val="FDECEC"/>
          </a:solidFill>
          <a:ln w="12700">
            <a:solidFill>
              <a:srgbClr val="F5C1C1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38544" y="174650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BE0E0"/>
          </a:solidFill>
          <a:ln w="12700">
            <a:solidFill>
              <a:srgbClr val="FBE0E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7830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38544" y="2331720"/>
            <a:ext cx="4572000" cy="3090672"/>
          </a:xfrm>
          <a:prstGeom prst="roundRect">
            <a:avLst>
              <a:gd name="adj" fmla="val 236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38544" y="2331720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24597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7728" y="24597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4597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67544" y="2423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39712" y="2825496"/>
            <a:ext cx="4169664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акцент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Пункт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внутри p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1828800" y="6062472"/>
            <a:ext cx="854964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01952" y="6099048"/>
            <a:ext cx="8403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Закрывайте в обратном порядке · соблюдайте допустимых родителей · используйте отступы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ДОКУМЕНТА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HTML‑документ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399032"/>
            <a:ext cx="598932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399032"/>
            <a:ext cx="598932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27048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27048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527048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1490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892808"/>
            <a:ext cx="558698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 html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lang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charset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UTF-8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name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viewport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width=device-width, initial-scale=1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Название страницы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Привет, HTML!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1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21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7004304" y="1399032"/>
            <a:ext cx="4535424" cy="493776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78624" y="1773936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51776" y="18105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&lt;!doctype html&gt;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089136" y="18105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современного HTML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78624" y="2450592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51776" y="2487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lang="ru"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089136" y="2487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содержимого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78624" y="3127248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31638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charset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9089136" y="31638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кодировка UTF‑8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78624" y="3803904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51776" y="3840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viewport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089136" y="3840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на мобильных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78624" y="4480560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E8F8FA"/>
          </a:solidFill>
          <a:ln w="12700">
            <a:solidFill>
              <a:srgbClr val="E8F8F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089136" y="45171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 вкладки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278624" y="5157216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FFF7E2"/>
          </a:solidFill>
          <a:ln w="12700">
            <a:solidFill>
              <a:srgbClr val="FFF7E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51937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9089136" y="51937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видимое содержимое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24344" y="5897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`doctype` — декларация, а не HTML‑элемент.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ДОКУМЕНТА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&lt;head&gt; и &lt;body&gt;: служебная и видимая части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413248" cy="4526280"/>
          </a:xfrm>
          <a:prstGeom prst="roundRect">
            <a:avLst>
              <a:gd name="adj" fmla="val 1616"/>
            </a:avLst>
          </a:prstGeom>
          <a:solidFill>
            <a:srgbClr val="EAF1FF"/>
          </a:solidFill>
          <a:ln w="12700">
            <a:solidFill>
              <a:srgbClr val="C9DAFF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755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87552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Метаданные и подключения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3035808"/>
            <a:ext cx="109728" cy="10972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926080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&lt;title&gt; — название вкладки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1005840" y="3584448"/>
            <a:ext cx="109728" cy="10972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74720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&lt;meta&gt; — кодировка, viewport, описание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1005840" y="4133088"/>
            <a:ext cx="109728" cy="10972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4023360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&lt;link&gt; — CSS, иконки и другие ресурсы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1005840" y="4681728"/>
            <a:ext cx="109728" cy="10972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572000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&lt;script defer&gt; — подключение JavaScript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5230368" cy="4526280"/>
          </a:xfrm>
          <a:prstGeom prst="roundRect">
            <a:avLst>
              <a:gd name="adj" fmla="val 1616"/>
            </a:avLst>
          </a:prstGeom>
          <a:solidFill>
            <a:srgbClr val="EAF8F2"/>
          </a:solidFill>
          <a:ln w="12700">
            <a:solidFill>
              <a:srgbClr val="BEE9D5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38544" y="1755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6638544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страницы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56832" y="3035808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2926080"/>
            <a:ext cx="4215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 и текст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6656832" y="3584448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3474720"/>
            <a:ext cx="4215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 и изображения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6656832" y="4133088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4023360"/>
            <a:ext cx="4215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семантические разделы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6656832" y="4681728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4572000"/>
            <a:ext cx="4215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таблицы, формы и медиа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1143000" y="610819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обычно видит только содержимое &lt;body&gt;, но &lt;head&gt; влияет на вкладку, поиск, адаптивность и загрузку ресурсов.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652F"/>
          </a:solidFill>
          <a:ln w="12700">
            <a:solidFill>
              <a:srgbClr val="F065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ДОКУМЕНТА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Пробелы, комментарии и специальные символы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81328"/>
            <a:ext cx="3218688" cy="450799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79222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288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Пробелы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2423160"/>
            <a:ext cx="2706624" cy="1261872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67004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&lt;p&gt;Один     абзац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 переносом в коде&lt;/p&gt;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932688" y="406908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обычном потоке цепочки пробелов и переносов схлопываются.</a:t>
            </a:r>
            <a:endParaRPr lang="en-US" sz="1370" dirty="0"/>
          </a:p>
        </p:txBody>
      </p:sp>
      <p:sp>
        <p:nvSpPr>
          <p:cNvPr id="14" name="Shape 12"/>
          <p:cNvSpPr/>
          <p:nvPr/>
        </p:nvSpPr>
        <p:spPr>
          <a:xfrm>
            <a:off x="4087368" y="1481328"/>
            <a:ext cx="3218688" cy="450799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79222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18288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2423160"/>
            <a:ext cx="2706624" cy="1261872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267004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TODO: добавить фото --&gt;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4361688" y="406908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отображаются, но видны в исходном коде. Не храните в них секреты.</a:t>
            </a:r>
            <a:endParaRPr lang="en-US" sz="1370" dirty="0"/>
          </a:p>
        </p:txBody>
      </p:sp>
      <p:sp>
        <p:nvSpPr>
          <p:cNvPr id="20" name="Shape 18"/>
          <p:cNvSpPr/>
          <p:nvPr/>
        </p:nvSpPr>
        <p:spPr>
          <a:xfrm>
            <a:off x="7516368" y="1481328"/>
            <a:ext cx="3218688" cy="450799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0" y="179222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18288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Сущности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0" y="2423160"/>
            <a:ext cx="2706624" cy="1261872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27848" y="267004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&amp;lt;  →  &lt;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&amp;amp; →  &amp;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&amp;nbsp; → неразрывный пробел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7790688" y="406908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Нужны, чтобы вывести символы, имеющие специальный смысл в HTML.</a:t>
            </a:r>
            <a:endParaRPr lang="en-US" sz="1370" dirty="0"/>
          </a:p>
        </p:txBody>
      </p:sp>
      <p:sp>
        <p:nvSpPr>
          <p:cNvPr id="26" name="Shape 24"/>
          <p:cNvSpPr/>
          <p:nvPr/>
        </p:nvSpPr>
        <p:spPr>
          <a:xfrm>
            <a:off x="1828800" y="6080760"/>
            <a:ext cx="850392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01952" y="6117336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&lt;pre&gt; сохраняет пробелы и переносы — используйте для кода и предварительно форматированного текста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Атрибуты: дополнительные настройки элемента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44752"/>
            <a:ext cx="10972800" cy="4498848"/>
          </a:xfrm>
          <a:prstGeom prst="roundRect">
            <a:avLst>
              <a:gd name="adj" fmla="val 1626"/>
            </a:avLst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84261" y="2148840"/>
            <a:ext cx="10550760" cy="896112"/>
          </a:xfrm>
          <a:prstGeom prst="roundRect">
            <a:avLst>
              <a:gd name="adj" fmla="val 612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8345" y="2450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834729" y="24323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8CB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767417" y="2432304"/>
            <a:ext cx="29933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8BE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"images/cat.webp"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696712" y="243230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8CB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alt=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92824" y="24323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8BE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"Серый кот"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558784" y="2432304"/>
            <a:ext cx="1439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8CB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loading=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875519" y="2432304"/>
            <a:ext cx="1268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8BE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"lazy"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1920240" y="3108960"/>
            <a:ext cx="0" cy="521208"/>
          </a:xfrm>
          <a:prstGeom prst="line">
            <a:avLst/>
          </a:prstGeom>
          <a:noFill/>
          <a:ln w="15240">
            <a:solidFill>
              <a:srgbClr val="F065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7033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тега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724912" y="3108960"/>
            <a:ext cx="0" cy="1188720"/>
          </a:xfrm>
          <a:prstGeom prst="line">
            <a:avLst/>
          </a:prstGeom>
          <a:noFill/>
          <a:ln w="15240">
            <a:solidFill>
              <a:srgbClr val="2F6F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1992" y="43708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атрибута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599432" y="3108960"/>
            <a:ext cx="0" cy="521208"/>
          </a:xfrm>
          <a:prstGeom prst="line">
            <a:avLst/>
          </a:prstGeom>
          <a:noFill/>
          <a:ln w="15240">
            <a:solidFill>
              <a:srgbClr val="1FA9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7033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63640" y="3108960"/>
            <a:ext cx="0" cy="1188720"/>
          </a:xfrm>
          <a:prstGeom prst="line">
            <a:avLst/>
          </a:prstGeom>
          <a:noFill/>
          <a:ln w="15240">
            <a:solidFill>
              <a:srgbClr val="2F6F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43708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атрибута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635240" y="3108960"/>
            <a:ext cx="0" cy="521208"/>
          </a:xfrm>
          <a:prstGeom prst="line">
            <a:avLst/>
          </a:prstGeom>
          <a:noFill/>
          <a:ln w="15240">
            <a:solidFill>
              <a:srgbClr val="1FA9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7033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162288" y="3108960"/>
            <a:ext cx="0" cy="1188720"/>
          </a:xfrm>
          <a:prstGeom prst="line">
            <a:avLst/>
          </a:prstGeom>
          <a:noFill/>
          <a:ln w="15240">
            <a:solidFill>
              <a:srgbClr val="2F6F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9368" y="43708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атрибута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0314432" y="3108960"/>
            <a:ext cx="0" cy="521208"/>
          </a:xfrm>
          <a:prstGeom prst="line">
            <a:avLst/>
          </a:prstGeom>
          <a:noFill/>
          <a:ln w="15240">
            <a:solidFill>
              <a:srgbClr val="1FA9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1512" y="37033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188720" y="5138928"/>
            <a:ext cx="109728" cy="10972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" y="5029200"/>
            <a:ext cx="9656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пишутся только в открывающем или пустом теге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1188720" y="5495544"/>
            <a:ext cx="109728" cy="10972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08176" y="5385816"/>
            <a:ext cx="9656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атрибутов разделяются пробелами</a:t>
            </a:r>
            <a:endParaRPr lang="en-US" sz="1330" dirty="0"/>
          </a:p>
        </p:txBody>
      </p:sp>
      <p:sp>
        <p:nvSpPr>
          <p:cNvPr id="35" name="Shape 33"/>
          <p:cNvSpPr/>
          <p:nvPr/>
        </p:nvSpPr>
        <p:spPr>
          <a:xfrm>
            <a:off x="1188720" y="5852160"/>
            <a:ext cx="109728" cy="10972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08176" y="5742432"/>
            <a:ext cx="9656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атрибутов обычно не влияет на результат</a:t>
            </a:r>
            <a:endParaRPr lang="en-US" sz="1330" dirty="0"/>
          </a:p>
        </p:txBody>
      </p:sp>
      <p:sp>
        <p:nvSpPr>
          <p:cNvPr id="37" name="Shape 35"/>
          <p:cNvSpPr/>
          <p:nvPr/>
        </p:nvSpPr>
        <p:spPr>
          <a:xfrm>
            <a:off x="1188720" y="6208776"/>
            <a:ext cx="109728" cy="10972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08176" y="6099048"/>
            <a:ext cx="9656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кавычки вокруг значений — безопасная и читаемая привычка</a:t>
            </a:r>
            <a:endParaRPr lang="en-US" sz="133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3ABF5048-886C-AD68-0ABC-BA373AA36528}"/>
              </a:ext>
            </a:extLst>
          </p:cNvPr>
          <p:cNvSpPr/>
          <p:nvPr/>
        </p:nvSpPr>
        <p:spPr>
          <a:xfrm>
            <a:off x="11034101" y="2485761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8A5B"/>
                </a:solidFill>
                <a:latin typeface="Courier New" pitchFamily="34" charset="0"/>
                <a:cs typeface="Courier New" pitchFamily="34" charset="-120"/>
              </a:rPr>
              <a:t>&gt;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Глобальные атрибуты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08176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581912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1848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2231136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уникальный идентификатор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2231136" y="1911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#contacts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190488" y="1408176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1656" y="1581912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61848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7763256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или несколько групп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7763256" y="1911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featured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58368" y="2578608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2752344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7889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2231136" y="2724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элемента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2231136" y="3081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 / en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6190488" y="2578608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1656" y="2752344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8F8FA"/>
          </a:solidFill>
          <a:ln w="12700">
            <a:solidFill>
              <a:srgbClr val="E8F8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27889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7763256" y="2724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дополнительная подсказка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7763256" y="3081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58368" y="3749040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392277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395935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2231136" y="3895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скрывает элемент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2231136" y="42519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булев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6190488" y="3749040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1656" y="392277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395935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tabindex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7763256" y="3895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участие в фокусе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7763256" y="42519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-1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658368" y="4919472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9536" y="509320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7E2"/>
          </a:solidFill>
          <a:ln w="12700">
            <a:solidFill>
              <a:srgbClr val="FFF7E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" y="512978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contenteditable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2231136" y="50657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разрешает редактирование</a:t>
            </a:r>
            <a:endParaRPr lang="en-US" sz="1330" dirty="0"/>
          </a:p>
        </p:txBody>
      </p:sp>
      <p:sp>
        <p:nvSpPr>
          <p:cNvPr id="42" name="Text 40"/>
          <p:cNvSpPr/>
          <p:nvPr/>
        </p:nvSpPr>
        <p:spPr>
          <a:xfrm>
            <a:off x="2231136" y="5422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6190488" y="4919472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91656" y="509320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4808" y="512978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7763256" y="50657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встроенные CSS‑стили</a:t>
            </a:r>
            <a:endParaRPr lang="en-US" sz="1330" dirty="0"/>
          </a:p>
        </p:txBody>
      </p:sp>
      <p:sp>
        <p:nvSpPr>
          <p:cNvPr id="47" name="Text 45"/>
          <p:cNvSpPr/>
          <p:nvPr/>
        </p:nvSpPr>
        <p:spPr>
          <a:xfrm>
            <a:off x="7763256" y="5422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лучше редко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1828800" y="6190488"/>
            <a:ext cx="8549640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01952" y="6227064"/>
            <a:ext cx="8403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Глобальные атрибуты допустимы почти у любого HTML‑элемента — но смысл всё равно должен быть оправдан.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Булевы атрибуты, data-* и ARIA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3456432" cy="461772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737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77393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Булевы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2359152"/>
            <a:ext cx="2852928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359152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" y="2487168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9304" y="2487168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53896" y="2487168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2450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61288" y="2852928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required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checked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disabled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Сохранить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960120" y="4462272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факт присутствия означает true. Значение писать не обязательно.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4370832" y="1417320"/>
            <a:ext cx="3456432" cy="461772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737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177393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data-*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72584" y="2359152"/>
            <a:ext cx="2852928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2359152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7176" y="2487168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1768" y="2487168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66360" y="2487168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450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73752" y="2852928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data-id="42"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data-state="draft"&gt;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672584" y="4462272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Пользовательские данные для JavaScript. Имя после data- выбираете вы.</a:t>
            </a:r>
            <a:endParaRPr lang="en-US" sz="1360" dirty="0"/>
          </a:p>
        </p:txBody>
      </p:sp>
      <p:sp>
        <p:nvSpPr>
          <p:cNvPr id="30" name="Shape 28"/>
          <p:cNvSpPr/>
          <p:nvPr/>
        </p:nvSpPr>
        <p:spPr>
          <a:xfrm>
            <a:off x="8083296" y="1417320"/>
            <a:ext cx="3456432" cy="461772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85048" y="1737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177393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85048" y="2359152"/>
            <a:ext cx="2852928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85048" y="2359152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49640" y="2487168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14232" y="2487168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78824" y="2487168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94976" y="2450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86216" y="2852928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
</a:t>
            </a:r>
            <a:r>
              <a:rPr lang="en-US" sz="10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aria-expanded="false"
</a:t>
            </a:r>
            <a:r>
              <a:rPr lang="en-US" sz="10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aria-controls="menu"&gt;
</a:t>
            </a:r>
            <a:r>
              <a:rPr lang="en-US" sz="10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Меню
</a:t>
            </a:r>
            <a:r>
              <a:rPr lang="en-US" sz="10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0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r>
              <a:rPr lang="en-US" sz="10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385048" y="4462272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Добавляет доступностную информацию, когда нативной семантики недостаточно.</a:t>
            </a:r>
            <a:endParaRPr lang="en-US" sz="1360" dirty="0"/>
          </a:p>
        </p:txBody>
      </p:sp>
      <p:sp>
        <p:nvSpPr>
          <p:cNvPr id="41" name="Shape 39"/>
          <p:cNvSpPr/>
          <p:nvPr/>
        </p:nvSpPr>
        <p:spPr>
          <a:xfrm>
            <a:off x="3584448" y="6199632"/>
            <a:ext cx="502920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623620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сначала нативный HTML, затем ARIA — не наоборот.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 и абзацы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17320"/>
            <a:ext cx="562356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453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453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5453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508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911096"/>
            <a:ext cx="522122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Курс по веб‑разработке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этом семестре изучаем фронтенд.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Первый модуль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Начинаем с языка разметки HTML.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Соберём собственную страницу.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537960" y="1417320"/>
            <a:ext cx="500176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1417320"/>
            <a:ext cx="5001768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4264" y="1581912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48856" y="158191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13448" y="1581912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51192" y="1517904"/>
            <a:ext cx="4050792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7496" y="1563624"/>
            <a:ext cx="3739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http://localhost:5500/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6903720" y="2057400"/>
            <a:ext cx="4270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по веб‑разработке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903720" y="2734056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этом семестре изучаем фронтенд.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6903720" y="3374136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модуль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903720" y="3904488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 языка разметки HTML.</a:t>
            </a:r>
            <a:endParaRPr lang="en-US" sz="1360" dirty="0"/>
          </a:p>
        </p:txBody>
      </p:sp>
      <p:sp>
        <p:nvSpPr>
          <p:cNvPr id="26" name="Text 24"/>
          <p:cNvSpPr/>
          <p:nvPr/>
        </p:nvSpPr>
        <p:spPr>
          <a:xfrm>
            <a:off x="6903720" y="4544568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502005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Соберём собственную страницу.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1975104" y="6281928"/>
            <a:ext cx="822960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8256" y="6318504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h1–h6 задают иерархию, а не «размер текста». Размер позже настраивает CSS.</a:t>
            </a:r>
            <a:endParaRPr lang="en-US" sz="10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Смысловое выделение текста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60020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367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&lt;strong&gt;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578608" y="15727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важность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578608" y="19933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сдачи — завтра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190488" y="141732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1656" y="160020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6367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&lt;em&gt;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110728" y="15727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логическое ударение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110728" y="19933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i="1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именно это имел в виду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58368" y="292608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310896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FFF7E2"/>
          </a:solidFill>
          <a:ln w="12700">
            <a:solidFill>
              <a:srgbClr val="FFF7E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1455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&lt;mark&gt;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578608" y="3081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актуальное выделение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2578608" y="3502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Найденное совпадение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190488" y="292608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1656" y="310896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31455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&lt;small&gt;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110728" y="3081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второстепенный текст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110728" y="3502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Правовая информация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58368" y="443484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461772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6542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&lt;del&gt; / &lt;ins&gt;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2578608" y="45902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изменения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2578608" y="50109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старая / новая цена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190488" y="443484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1656" y="461772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46542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&lt;b&gt; / &lt;i&gt;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8110728" y="45902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визуальное или типографическое отличие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8110728" y="50109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термин, имя, голос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2286000" y="6163056"/>
            <a:ext cx="758952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59152" y="6199632"/>
            <a:ext cx="7443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Выбирайте тег по смыслу. Внешний вид любого элемента можно изменить CSS‑ом.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Код, цитаты, сокращения и время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989320" cy="4709160"/>
          </a:xfrm>
          <a:prstGeom prst="roundRect">
            <a:avLst>
              <a:gd name="adj" fmla="val 155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17320"/>
            <a:ext cx="598932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453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453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5453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1508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911096"/>
            <a:ext cx="558698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Нажмите 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kbd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kbd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kbd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kbd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answer = 42;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blockquote cite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https://example.com/source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Хорошая разметка передаёт смысл.
</a:t>
            </a:r>
            <a:r>
              <a:rPr lang="en-US" sz="105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blockquote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abbr title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HyperText Markup Language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abbr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datetime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2026-09-07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сентября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31152" y="1417320"/>
            <a:ext cx="4608576" cy="47091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42048" y="176479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80136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&lt;code&gt;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9070848" y="181051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 кода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7242048" y="240487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44144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&lt;pre&gt;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9070848" y="245059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форматирование</a:t>
            </a:r>
            <a:endParaRPr lang="en-US" sz="1170" dirty="0"/>
          </a:p>
        </p:txBody>
      </p:sp>
      <p:sp>
        <p:nvSpPr>
          <p:cNvPr id="22" name="Shape 20"/>
          <p:cNvSpPr/>
          <p:nvPr/>
        </p:nvSpPr>
        <p:spPr>
          <a:xfrm>
            <a:off x="7242048" y="304495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3081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&lt;kbd&gt;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9070848" y="309067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с клавиатуры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7242048" y="368503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72160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&lt;blockquote&gt; / &lt;q&gt;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9070848" y="373075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цитаты</a:t>
            </a:r>
            <a:endParaRPr lang="en-US" sz="1170" dirty="0"/>
          </a:p>
        </p:txBody>
      </p:sp>
      <p:sp>
        <p:nvSpPr>
          <p:cNvPr id="28" name="Shape 26"/>
          <p:cNvSpPr/>
          <p:nvPr/>
        </p:nvSpPr>
        <p:spPr>
          <a:xfrm>
            <a:off x="7242048" y="432511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36168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&lt;abbr&gt;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9070848" y="437083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 расшифровкой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7242048" y="496519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500176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&lt;time&gt;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9070848" y="501091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машиночитаемая дата или время</a:t>
            </a:r>
            <a:endParaRPr lang="en-US" sz="11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Списки: маркированные, нумерованные и описания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17320"/>
            <a:ext cx="562356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453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453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5453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508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911096"/>
            <a:ext cx="5221224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 start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Фреймворки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Язык разметки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8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</a:t>
            </a:r>
            <a:r>
              <a:rPr lang="en-US" sz="108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537960" y="1417320"/>
            <a:ext cx="5001768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1417320"/>
            <a:ext cx="5001768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4264" y="1581912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48856" y="158191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13448" y="1581912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51192" y="1517904"/>
            <a:ext cx="4050792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7496" y="1563624"/>
            <a:ext cx="3739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http://localhost:5500/lists.html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6903720" y="2029968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04888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HTML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04888" y="2834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CSS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04888" y="31821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JavaScript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03720" y="364845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Продолжение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04888" y="4069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React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04888" y="4416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Фреймворки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03720" y="4937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882128" y="4937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разметки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691640" y="6263640"/>
            <a:ext cx="877824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64792" y="6300216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ul и ol непосредственными детьми должны быть li. Списки можно вкладывать друг в друга.</a:t>
            </a:r>
            <a:endParaRPr lang="en-US" sz="10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Ссылки: элемент &lt;a&gt; и атрибут href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17320"/>
            <a:ext cx="630936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453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453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5453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24728" y="1508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911096"/>
            <a:ext cx="5907024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/courses/html.html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Курс HTML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#contacts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 контактам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mailto:hello@example.com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Написать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tel:+79990000000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Позвонить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guide.pdf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download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Скачать PDF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href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https://example.com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_blank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noopener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Внешний сайт
</a:t>
            </a:r>
            <a:r>
              <a:rPr lang="en-US" sz="10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260336" y="1417320"/>
            <a:ext cx="4279392" cy="475488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77393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может быть ссылкой?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607808" y="2560320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7264" y="2368296"/>
            <a:ext cx="3163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607808" y="3090672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27264" y="2898648"/>
            <a:ext cx="3163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607808" y="3621024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27264" y="3419857"/>
            <a:ext cx="3163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целая карточка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607808" y="4151376"/>
            <a:ext cx="109728" cy="109728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27264" y="3950209"/>
            <a:ext cx="3163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иконка или логотип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589520" y="4681728"/>
            <a:ext cx="36118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808" y="49834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502005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href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32520" y="502005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 назначения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07808" y="54132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544982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32520" y="544982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открыть ресурс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Пути к файлам и якорям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5321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755648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7922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https://site.ru/img/logo.svg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3675888" y="18013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абсолютный URL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960120" y="2514600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5511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/img/logo.svg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675888" y="2560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корня сайта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960120" y="3273552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3101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img/logo.svg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3675888" y="3319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текущего файла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960120" y="4032504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0690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../img/logo.svg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675888" y="40782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уровень выше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960120" y="4791456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E8F8FA"/>
          </a:solidFill>
          <a:ln w="12700">
            <a:solidFill>
              <a:srgbClr val="E8F8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82803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#contacts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675888" y="4837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элементу id="contacts"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6455664" y="1417320"/>
            <a:ext cx="5084064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84848" y="1764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проекта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6903720" y="22860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06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▾ project/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7315200" y="27249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index.html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7315200" y="31638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06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▾ pages/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7726680" y="3602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about.html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7315200" y="404164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06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▾ img/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7726680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logo.svg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7726680" y="4919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team.webp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6903720" y="5513832"/>
            <a:ext cx="4041648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555040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pages/about.html до logo.svg: ../img/logo.svg</a:t>
            </a:r>
            <a:endParaRPr lang="en-US" sz="9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Изображения: &lt;img&gt;, alt и &lt;figure&gt;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715000" cy="4709160"/>
          </a:xfrm>
          <a:prstGeom prst="roundRect">
            <a:avLst>
              <a:gd name="adj" fmla="val 155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17320"/>
            <a:ext cx="571500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453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453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5453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508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911096"/>
            <a:ext cx="531266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1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</a:t>
            </a:r>
            <a:r>
              <a:rPr lang="en-US" sz="11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
</a:t>
            </a: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src="images/cat.webp"
</a:t>
            </a: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alt="Серый кот смотрит в камеру"
</a:t>
            </a: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width="640"
</a:t>
            </a: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height="420"
</a:t>
            </a: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loading="lazy"&gt;
</a:t>
            </a: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figcaption</a:t>
            </a:r>
            <a:r>
              <a:rPr lang="en-US" sz="11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Кот — главный тестировщик.</a:t>
            </a:r>
            <a:r>
              <a:rPr lang="en-US" sz="11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figcaption</a:t>
            </a:r>
            <a:r>
              <a:rPr lang="en-US" sz="11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r>
              <a:rPr lang="en-US" sz="11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</a:t>
            </a:r>
            <a:r>
              <a:rPr lang="en-US" sz="112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629400" y="1417320"/>
            <a:ext cx="491032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1417320"/>
            <a:ext cx="4910328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1581912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0296" y="158191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4888" y="1581912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42632" y="1517904"/>
            <a:ext cx="3959352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88936" y="1563624"/>
            <a:ext cx="3648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http://localhost:5500/gallery.html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031736" y="2075688"/>
            <a:ext cx="4105656" cy="2331720"/>
          </a:xfrm>
          <a:prstGeom prst="roundRect">
            <a:avLst>
              <a:gd name="adj" fmla="val 3137"/>
            </a:avLst>
          </a:prstGeom>
          <a:solidFill>
            <a:srgbClr val="DDE4EC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514600"/>
            <a:ext cx="1463040" cy="1417320"/>
          </a:xfrm>
          <a:prstGeom prst="ellipse">
            <a:avLst/>
          </a:prstGeom>
          <a:solidFill>
            <a:srgbClr val="8A96A8"/>
          </a:solidFill>
          <a:ln w="12700">
            <a:solidFill>
              <a:srgbClr val="6F7C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0">
            <a:off x="8055864" y="2295144"/>
            <a:ext cx="658368" cy="749808"/>
          </a:xfrm>
          <a:prstGeom prst="triangle">
            <a:avLst/>
          </a:prstGeom>
          <a:solidFill>
            <a:srgbClr val="8A96A8"/>
          </a:solidFill>
          <a:ln w="12700">
            <a:solidFill>
              <a:srgbClr val="6F7C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600000">
            <a:off x="9043416" y="2295144"/>
            <a:ext cx="658368" cy="749808"/>
          </a:xfrm>
          <a:prstGeom prst="triangle">
            <a:avLst/>
          </a:prstGeom>
          <a:solidFill>
            <a:srgbClr val="8A96A8"/>
          </a:solidFill>
          <a:ln w="12700">
            <a:solidFill>
              <a:srgbClr val="6F7C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94776" y="2926080"/>
            <a:ext cx="201168" cy="201168"/>
          </a:xfrm>
          <a:prstGeom prst="ellipse">
            <a:avLst/>
          </a:prstGeom>
          <a:solidFill>
            <a:srgbClr val="F5C76D"/>
          </a:solidFill>
          <a:ln w="8890">
            <a:solidFill>
              <a:srgbClr val="1F29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62288" y="2926080"/>
            <a:ext cx="201168" cy="201168"/>
          </a:xfrm>
          <a:prstGeom prst="ellipse">
            <a:avLst/>
          </a:prstGeom>
          <a:solidFill>
            <a:srgbClr val="F5C76D"/>
          </a:solidFill>
          <a:ln w="8890">
            <a:solidFill>
              <a:srgbClr val="1F29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8787384" y="3246120"/>
            <a:ext cx="201168" cy="164592"/>
          </a:xfrm>
          <a:prstGeom prst="triangle">
            <a:avLst/>
          </a:prstGeom>
          <a:solidFill>
            <a:srgbClr val="E7A4A4"/>
          </a:solidFill>
          <a:ln w="12700">
            <a:solidFill>
              <a:srgbClr val="E7A4A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31736" y="4636008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i="1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 — главный тестировщик.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6995160" y="5102352"/>
            <a:ext cx="4187952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68312" y="513892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alt: смысл изображения, а не имя файла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995160" y="5522976"/>
            <a:ext cx="4187952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555955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+ height уменьшают скачки макета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95160" y="5943600"/>
            <a:ext cx="4187952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598017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Декоративная картинка: alt=""</a:t>
            </a:r>
            <a:endParaRPr lang="en-US" sz="10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каркас страницы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50468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1764792"/>
            <a:ext cx="4709160" cy="502920"/>
          </a:xfrm>
          <a:prstGeom prst="roundRect">
            <a:avLst>
              <a:gd name="adj" fmla="val 9091"/>
            </a:avLst>
          </a:prstGeom>
          <a:solidFill>
            <a:srgbClr val="FFF0E9"/>
          </a:solidFill>
          <a:ln w="12700">
            <a:solidFill>
              <a:srgbClr val="F065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6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шапка страницы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1051560" y="2450592"/>
            <a:ext cx="4709160" cy="438912"/>
          </a:xfrm>
          <a:prstGeom prst="roundRect">
            <a:avLst>
              <a:gd name="adj" fmla="val 10417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5420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86000" y="254203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навигация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051560" y="3072384"/>
            <a:ext cx="3246120" cy="2258568"/>
          </a:xfrm>
          <a:prstGeom prst="roundRect">
            <a:avLst>
              <a:gd name="adj" fmla="val 2024"/>
            </a:avLst>
          </a:prstGeom>
          <a:solidFill>
            <a:srgbClr val="EAF8F2"/>
          </a:solidFill>
          <a:ln w="12700">
            <a:solidFill>
              <a:srgbClr val="1FA9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163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0" y="3163824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содержимое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480560" y="3072384"/>
            <a:ext cx="1280160" cy="2258568"/>
          </a:xfrm>
          <a:prstGeom prst="roundRect">
            <a:avLst>
              <a:gd name="adj" fmla="val 3571"/>
            </a:avLst>
          </a:prstGeom>
          <a:solidFill>
            <a:srgbClr val="F0EC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3163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15000" y="3163824"/>
            <a:ext cx="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связанный контент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307592" y="3639312"/>
            <a:ext cx="2724912" cy="603504"/>
          </a:xfrm>
          <a:prstGeom prst="roundRect">
            <a:avLst>
              <a:gd name="adj" fmla="val 7576"/>
            </a:avLst>
          </a:prstGeom>
          <a:solidFill>
            <a:srgbClr val="E8F8FA"/>
          </a:solidFill>
          <a:ln w="12700">
            <a:solidFill>
              <a:srgbClr val="0F9A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73075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42032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самостоятельный материал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307592" y="4434840"/>
            <a:ext cx="2724912" cy="603504"/>
          </a:xfrm>
          <a:prstGeom prst="roundRect">
            <a:avLst>
              <a:gd name="adj" fmla="val 7576"/>
            </a:avLst>
          </a:prstGeom>
          <a:solidFill>
            <a:srgbClr val="FFF7E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4526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42032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тематический раздел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1051560" y="5513832"/>
            <a:ext cx="4709160" cy="502920"/>
          </a:xfrm>
          <a:prstGeom prst="roundRect">
            <a:avLst>
              <a:gd name="adj" fmla="val 9091"/>
            </a:avLst>
          </a:prstGeom>
          <a:solidFill>
            <a:srgbClr val="FDECEC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1288" y="56052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286000" y="56052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подвал страницы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419088" y="1417320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48272" y="1764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выбирать элемент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766560" y="2423160"/>
            <a:ext cx="310896" cy="310896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485339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96328" y="2414016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&lt;main&gt; — один основной контент документа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766560" y="3090672"/>
            <a:ext cx="310896" cy="310896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152851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96328" y="3081528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&lt;section&gt; — тематический раздел, обычно с заголовком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766560" y="3758184"/>
            <a:ext cx="310896" cy="310896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820363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96328" y="3749040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&lt;article&gt; — материал, который имеет смысл сам по себе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766560" y="4425696"/>
            <a:ext cx="310896" cy="310896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487875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96328" y="4416552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&lt;nav&gt; — значимый набор навигационных ссылок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6766560" y="5093208"/>
            <a:ext cx="310896" cy="310896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5155387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96328" y="5084064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семантика описывает назначение, а не внешний вид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&lt;div&gt; и &lt;span&gt;: нейтральные контейнеры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81328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81328"/>
            <a:ext cx="530352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09344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609344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609344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5727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975104"/>
            <a:ext cx="490118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class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class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price__value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1 490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class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price__currency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₽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3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3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6245352" y="1481328"/>
            <a:ext cx="5294376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8562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6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818120" y="179222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группирует крупные фрагменты, когда подходящего семантического элемента нет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0" y="2862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818120" y="28163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оборачивает короткий фрагмент внутри строки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8368" y="46634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7E2"/>
          </a:solidFill>
          <a:ln w="12700">
            <a:solidFill>
              <a:srgbClr val="F6DE9D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029200"/>
            <a:ext cx="10287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Важно: «блочный» и «строчный» — это поведение CSS по умолчанию, а не тип тега HTML. display можно изменить.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029968" y="6099048"/>
            <a:ext cx="813816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6135624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ищите семантический тег. div и span — запасной вариант, а не универсальный ответ.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— только для табличных данных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1732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453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453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5453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1508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911096"/>
            <a:ext cx="5449824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Баллы за лабораторные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thead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 scope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Работа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 scope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Баллы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thead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tbody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tbody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784848" y="1417320"/>
            <a:ext cx="47548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18105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за лабораторные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78040" y="2487168"/>
            <a:ext cx="3950208" cy="640080"/>
          </a:xfrm>
          <a:prstGeom prst="rect">
            <a:avLst/>
          </a:prstGeom>
          <a:solidFill>
            <a:srgbClr val="EAF1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2487168"/>
            <a:ext cx="0" cy="6400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26517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030968" y="26517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178040" y="3127248"/>
            <a:ext cx="3950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3127248"/>
            <a:ext cx="0" cy="6400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4344" y="32918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030968" y="329184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78040" y="3767328"/>
            <a:ext cx="3950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3767328"/>
            <a:ext cx="0" cy="6400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393192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030968" y="393192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168896" y="475488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479145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— название таблицы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66176" y="5175504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52120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 + scope — заголовки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68896" y="5596128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5632704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используйте table для раскладки страницы</a:t>
            </a:r>
            <a:endParaRPr lang="en-US" sz="9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Формы: как собрать данные пользователя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852160" cy="4709160"/>
          </a:xfrm>
          <a:prstGeom prst="roundRect">
            <a:avLst>
              <a:gd name="adj" fmla="val 155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41732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453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453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5453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1508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1911096"/>
            <a:ext cx="544982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action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/subscribe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for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id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type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Подписаться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3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1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r>
              <a:rPr lang="en-US" sz="113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784848" y="1417320"/>
            <a:ext cx="47548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84848" y="141732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31152" y="1581912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95744" y="158191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0336" y="1581912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517904"/>
            <a:ext cx="3803904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1563624"/>
            <a:ext cx="3493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http://localhost:5500/subscribe.html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168896" y="2121408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на новости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168896" y="2788920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68896" y="3108960"/>
            <a:ext cx="3986784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AAB6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3291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student@example.com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68896" y="3995928"/>
            <a:ext cx="1993392" cy="621792"/>
          </a:xfrm>
          <a:prstGeom prst="roundRect">
            <a:avLst>
              <a:gd name="adj" fmla="val 11765"/>
            </a:avLst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06056" y="419709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Подписаться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7150608" y="487375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4910328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↔ for/id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71432" y="487375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4584" y="49103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отправляет значение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150608" y="533095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5367528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type="submit"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9171432" y="533095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44584" y="53675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POST — способ отправки</a:t>
            </a:r>
            <a:endParaRPr lang="en-US" sz="89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формы и встроенная валидация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1663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7830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6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type="…"&gt;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87552" y="2377440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4140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/ 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44368" y="24140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 текст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987552" y="2907792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94436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url / tel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44368" y="29443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специализированный ввод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87552" y="3438144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47472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/ range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44368" y="3474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числа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987552" y="396849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40050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/ 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44368" y="40050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 время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987552" y="4498848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53542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/ radio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44368" y="45354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987552" y="5029200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506577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44368" y="50657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файла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089904" y="1417320"/>
            <a:ext cx="5449824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19088" y="17830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элементы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419088" y="235915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39572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&lt;textarea&gt;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046720" y="23957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многострочный текст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419088" y="29077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94436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&lt;select&gt; + &lt;option&gt;</a:t>
            </a:r>
            <a:endParaRPr lang="en-US" sz="890" dirty="0"/>
          </a:p>
        </p:txBody>
      </p:sp>
      <p:sp>
        <p:nvSpPr>
          <p:cNvPr id="35" name="Text 33"/>
          <p:cNvSpPr/>
          <p:nvPr/>
        </p:nvSpPr>
        <p:spPr>
          <a:xfrm>
            <a:off x="8046720" y="29443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из списка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419088" y="345643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49300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&lt;button&gt;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8046720" y="34930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действие: submit / button / reset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19088" y="4078224"/>
            <a:ext cx="44805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Полезные атрибуты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088" y="4809744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84632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62672" y="4809744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35824" y="484632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9089136" y="4809744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62288" y="48463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/ max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419088" y="5276088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5312664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62672" y="5276088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E8F8FA"/>
          </a:solidFill>
          <a:ln w="12700">
            <a:solidFill>
              <a:srgbClr val="E8F8F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35824" y="531266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89136" y="5276088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62288" y="5312664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≠ label</a:t>
            </a:r>
            <a:endParaRPr lang="en-US" sz="8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ТЕГИ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Аудио, видео и встроенный контент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3456432" cy="47091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737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7393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&lt;video&gt;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2688" y="2331720"/>
            <a:ext cx="2907792" cy="2258568"/>
          </a:xfrm>
          <a:prstGeom prst="roundRect">
            <a:avLst>
              <a:gd name="adj" fmla="val 323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331720"/>
            <a:ext cx="2907792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4597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1872" y="24597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6464" y="24597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423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3856" y="2825496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controls width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640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poster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cover.jpg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src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lesson.mp4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video/mp4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kind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captions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captions.vtt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srclang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950976" y="491947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— управление; track — субтитры.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4370832" y="1417320"/>
            <a:ext cx="3456432" cy="47091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1737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77393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&lt;audio&gt;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45152" y="2331720"/>
            <a:ext cx="2907792" cy="2258568"/>
          </a:xfrm>
          <a:prstGeom prst="roundRect">
            <a:avLst>
              <a:gd name="adj" fmla="val 323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5152" y="2331720"/>
            <a:ext cx="2907792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4597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74336" y="24597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38928" y="24597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2423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2825496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 controls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src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podcast.mp3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audio/mpeg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4663440" y="491947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Предусмотрите текстовую альтернативу или расшифровку.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8083296" y="1417320"/>
            <a:ext cx="3456432" cy="47091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1737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177393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&lt;iframe&gt;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57616" y="2331720"/>
            <a:ext cx="2907792" cy="2258568"/>
          </a:xfrm>
          <a:prstGeom prst="roundRect">
            <a:avLst>
              <a:gd name="adj" fmla="val 323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2331720"/>
            <a:ext cx="2907792" cy="384048"/>
          </a:xfrm>
          <a:prstGeom prst="roundRect">
            <a:avLst>
              <a:gd name="adj" fmla="val 19048"/>
            </a:avLst>
          </a:prstGeom>
          <a:solidFill>
            <a:srgbClr val="1B2434"/>
          </a:solidFill>
          <a:ln w="12700">
            <a:solidFill>
              <a:srgbClr val="1B243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22208" y="2459736"/>
            <a:ext cx="82296" cy="82296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24597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51392" y="2459736"/>
            <a:ext cx="82296" cy="8229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22408" y="2423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58784" y="2825496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src="https://example.com/embed"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title="Карта кампуса"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loading="lazy"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sandbox&gt;
</a:t>
            </a:r>
            <a:r>
              <a:rPr lang="en-US" sz="87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iframe</a:t>
            </a:r>
            <a:r>
              <a:rPr lang="en-US" sz="87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8375904" y="491947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Всегда добавляйте title. Ограничивайте права через sandbox.</a:t>
            </a:r>
            <a:endParaRPr lang="en-US" sz="1270" dirty="0"/>
          </a:p>
        </p:txBody>
      </p:sp>
      <p:sp>
        <p:nvSpPr>
          <p:cNvPr id="41" name="Shape 39"/>
          <p:cNvSpPr/>
          <p:nvPr/>
        </p:nvSpPr>
        <p:spPr>
          <a:xfrm>
            <a:off x="2331720" y="6236208"/>
            <a:ext cx="7543800" cy="32918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04872" y="6272784"/>
            <a:ext cx="739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запускайте медиа автоматически со звуком — это ухудшает UX и доступность.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F9AA8"/>
          </a:solidFill>
          <a:ln w="12700">
            <a:solidFill>
              <a:srgbClr val="0F9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начинается с правильного HTML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EAF8F2"/>
          </a:solidFill>
          <a:ln w="12700">
            <a:solidFill>
              <a:srgbClr val="BEE9D5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7739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Нативный HTML уже многое умеет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87552" y="235915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DF5E9"/>
          </a:solidFill>
          <a:ln w="12700">
            <a:solidFill>
              <a:srgbClr val="DDF5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3957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&lt;button&gt;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880360" y="239572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действия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987552" y="2880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91693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 href&gt;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880360" y="2916936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перехода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987552" y="340156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DF5E9"/>
          </a:solidFill>
          <a:ln w="12700">
            <a:solidFill>
              <a:srgbClr val="DDF5E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43814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&lt;label&gt;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880360" y="343814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поля формы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987552" y="3922776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95935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880360" y="395935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изображения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987552" y="4443984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DF5E9"/>
          </a:solidFill>
          <a:ln w="12700">
            <a:solidFill>
              <a:srgbClr val="DDF5E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4805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lang="ru"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2880360" y="448056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языка документа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987552" y="496519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500176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→ h2 → h3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880360" y="500176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структуры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6510528" y="141732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FDECEC"/>
          </a:solidFill>
          <a:ln w="12700">
            <a:solidFill>
              <a:srgbClr val="F5C1C1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39712" y="1773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Антипаттерны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58000" y="2432304"/>
            <a:ext cx="310896" cy="310896"/>
          </a:xfrm>
          <a:prstGeom prst="ellipse">
            <a:avLst/>
          </a:prstGeom>
          <a:solidFill>
            <a:srgbClr val="FDECEC"/>
          </a:solidFill>
          <a:ln w="15240">
            <a:solidFill>
              <a:srgbClr val="D94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494483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87768" y="242316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 onclick&gt; вместо кнопки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0" y="3118104"/>
            <a:ext cx="310896" cy="310896"/>
          </a:xfrm>
          <a:prstGeom prst="ellipse">
            <a:avLst/>
          </a:prstGeom>
          <a:solidFill>
            <a:srgbClr val="FDECEC"/>
          </a:solidFill>
          <a:ln w="15240">
            <a:solidFill>
              <a:srgbClr val="D94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180283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87768" y="310896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вместо label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0" y="3803904"/>
            <a:ext cx="310896" cy="310896"/>
          </a:xfrm>
          <a:prstGeom prst="ellipse">
            <a:avLst/>
          </a:prstGeom>
          <a:solidFill>
            <a:srgbClr val="FDECEC"/>
          </a:solidFill>
          <a:ln w="15240">
            <a:solidFill>
              <a:srgbClr val="D94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866083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287768" y="379476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 без alt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0" y="4489704"/>
            <a:ext cx="310896" cy="310896"/>
          </a:xfrm>
          <a:prstGeom prst="ellipse">
            <a:avLst/>
          </a:prstGeom>
          <a:solidFill>
            <a:srgbClr val="FDECEC"/>
          </a:solidFill>
          <a:ln w="15240">
            <a:solidFill>
              <a:srgbClr val="D94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4551883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287768" y="448056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 только ради размера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0" y="5175504"/>
            <a:ext cx="310896" cy="310896"/>
          </a:xfrm>
          <a:prstGeom prst="ellipse">
            <a:avLst/>
          </a:prstGeom>
          <a:solidFill>
            <a:srgbClr val="FDECEC"/>
          </a:solidFill>
          <a:ln w="15240">
            <a:solidFill>
              <a:srgbClr val="D94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5237683"/>
            <a:ext cx="310896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287768" y="516636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положительный tabindex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240280" y="6236208"/>
            <a:ext cx="7726680" cy="329184"/>
          </a:xfrm>
          <a:prstGeom prst="roundRect">
            <a:avLst>
              <a:gd name="adj" fmla="val 50000"/>
            </a:avLst>
          </a:prstGeom>
          <a:solidFill>
            <a:srgbClr val="E8F8FA"/>
          </a:solidFill>
          <a:ln w="12700">
            <a:solidFill>
              <a:srgbClr val="E8F8FA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13432" y="6272784"/>
            <a:ext cx="7580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Семантика помогает клавиатуре, скринридерам, поиску и вашей команде.</a:t>
            </a:r>
            <a:endParaRPr lang="en-US" sz="107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F9AA8"/>
          </a:solidFill>
          <a:ln w="12700">
            <a:solidFill>
              <a:srgbClr val="0F9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Частые ошибки и проверка разметки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651052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7739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Частые ошибки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2441448"/>
            <a:ext cx="109728" cy="109728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331720"/>
            <a:ext cx="5404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незакрытые или пересекающиеся теги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1005840" y="2898648"/>
            <a:ext cx="109728" cy="109728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88920"/>
            <a:ext cx="5404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одинаковый id у нескольких элементов</a:t>
            </a:r>
            <a:endParaRPr lang="en-US" sz="1370" dirty="0"/>
          </a:p>
        </p:txBody>
      </p:sp>
      <p:sp>
        <p:nvSpPr>
          <p:cNvPr id="14" name="Shape 12"/>
          <p:cNvSpPr/>
          <p:nvPr/>
        </p:nvSpPr>
        <p:spPr>
          <a:xfrm>
            <a:off x="1005840" y="3355848"/>
            <a:ext cx="109728" cy="109728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3246120"/>
            <a:ext cx="5404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 внутри p и другие нарушения модели содержимого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1005840" y="3813048"/>
            <a:ext cx="109728" cy="109728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703320"/>
            <a:ext cx="5404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&lt;br&gt; и таблицы для раскладки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1005840" y="4270248"/>
            <a:ext cx="109728" cy="109728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160520"/>
            <a:ext cx="5404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 без alt, input без label</a:t>
            </a:r>
            <a:endParaRPr lang="en-US" sz="1370" dirty="0"/>
          </a:p>
        </p:txBody>
      </p:sp>
      <p:sp>
        <p:nvSpPr>
          <p:cNvPr id="20" name="Shape 18"/>
          <p:cNvSpPr/>
          <p:nvPr/>
        </p:nvSpPr>
        <p:spPr>
          <a:xfrm>
            <a:off x="1005840" y="4727448"/>
            <a:ext cx="109728" cy="109728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4617720"/>
            <a:ext cx="5404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пути C:\Users\…</a:t>
            </a:r>
            <a:endParaRPr lang="en-US" sz="1370" dirty="0"/>
          </a:p>
        </p:txBody>
      </p:sp>
      <p:sp>
        <p:nvSpPr>
          <p:cNvPr id="22" name="Shape 20"/>
          <p:cNvSpPr/>
          <p:nvPr/>
        </p:nvSpPr>
        <p:spPr>
          <a:xfrm>
            <a:off x="1005840" y="5184648"/>
            <a:ext cx="109728" cy="109728"/>
          </a:xfrm>
          <a:prstGeom prst="ellipse">
            <a:avLst/>
          </a:prstGeom>
          <a:solidFill>
            <a:srgbClr val="D94A4A"/>
          </a:solidFill>
          <a:ln w="12700">
            <a:solidFill>
              <a:srgbClr val="D94A4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5296" y="5074920"/>
            <a:ext cx="5404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без явного type внутри формы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7443216" y="1417320"/>
            <a:ext cx="4096512" cy="4709160"/>
          </a:xfrm>
          <a:prstGeom prst="roundRect">
            <a:avLst>
              <a:gd name="adj" fmla="val 1786"/>
            </a:avLst>
          </a:prstGeom>
          <a:solidFill>
            <a:srgbClr val="EAF1FF"/>
          </a:solidFill>
          <a:ln w="12700">
            <a:solidFill>
              <a:srgbClr val="C9DAFF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0" y="17739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цикл проверки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790688" y="2359152"/>
            <a:ext cx="365760" cy="365760"/>
          </a:xfrm>
          <a:prstGeom prst="ellipse">
            <a:avLst/>
          </a:prstGeom>
          <a:solidFill>
            <a:srgbClr val="EAF1FF"/>
          </a:solidFill>
          <a:ln w="15240">
            <a:solidFill>
              <a:srgbClr val="2F6F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0688" y="24323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24140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страницу</a:t>
            </a:r>
            <a:endParaRPr lang="en-US" sz="1270" dirty="0"/>
          </a:p>
        </p:txBody>
      </p:sp>
      <p:sp>
        <p:nvSpPr>
          <p:cNvPr id="29" name="Shape 27"/>
          <p:cNvSpPr/>
          <p:nvPr/>
        </p:nvSpPr>
        <p:spPr>
          <a:xfrm>
            <a:off x="7790688" y="2999232"/>
            <a:ext cx="365760" cy="365760"/>
          </a:xfrm>
          <a:prstGeom prst="ellipse">
            <a:avLst/>
          </a:prstGeom>
          <a:solidFill>
            <a:srgbClr val="FFF0E9"/>
          </a:solidFill>
          <a:ln w="15240">
            <a:solidFill>
              <a:srgbClr val="F065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3072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30540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→ Elements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7790688" y="3639312"/>
            <a:ext cx="365760" cy="365760"/>
          </a:xfrm>
          <a:prstGeom prst="ellipse">
            <a:avLst/>
          </a:prstGeom>
          <a:solidFill>
            <a:srgbClr val="EAF8F2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0688" y="37124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36941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клавиатурой</a:t>
            </a:r>
            <a:endParaRPr lang="en-US" sz="1270" dirty="0"/>
          </a:p>
        </p:txBody>
      </p:sp>
      <p:sp>
        <p:nvSpPr>
          <p:cNvPr id="35" name="Shape 33"/>
          <p:cNvSpPr/>
          <p:nvPr/>
        </p:nvSpPr>
        <p:spPr>
          <a:xfrm>
            <a:off x="7790688" y="4279392"/>
            <a:ext cx="365760" cy="365760"/>
          </a:xfrm>
          <a:prstGeom prst="ellipse">
            <a:avLst/>
          </a:prstGeom>
          <a:solidFill>
            <a:srgbClr val="F0ECFF"/>
          </a:solidFill>
          <a:ln w="15240">
            <a:solidFill>
              <a:srgbClr val="7C4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90688" y="43525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21040" y="4334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HTML Checker</a:t>
            </a:r>
            <a:endParaRPr lang="en-US" sz="1270" dirty="0"/>
          </a:p>
        </p:txBody>
      </p:sp>
      <p:sp>
        <p:nvSpPr>
          <p:cNvPr id="38" name="Shape 36"/>
          <p:cNvSpPr/>
          <p:nvPr/>
        </p:nvSpPr>
        <p:spPr>
          <a:xfrm>
            <a:off x="7790688" y="4919472"/>
            <a:ext cx="365760" cy="365760"/>
          </a:xfrm>
          <a:prstGeom prst="ellipse">
            <a:avLst/>
          </a:prstGeom>
          <a:solidFill>
            <a:srgbClr val="E8F8FA"/>
          </a:solidFill>
          <a:ln w="15240">
            <a:solidFill>
              <a:srgbClr val="0F9A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0688" y="49926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49743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Исправить предупреждения</a:t>
            </a:r>
            <a:endParaRPr lang="en-US" sz="1270" dirty="0"/>
          </a:p>
        </p:txBody>
      </p:sp>
      <p:sp>
        <p:nvSpPr>
          <p:cNvPr id="41" name="Shape 39"/>
          <p:cNvSpPr/>
          <p:nvPr/>
        </p:nvSpPr>
        <p:spPr>
          <a:xfrm>
            <a:off x="2423160" y="6236208"/>
            <a:ext cx="7315200" cy="32918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6312" y="6272784"/>
            <a:ext cx="7168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«показал страницу» ≠ разметка корректна</a:t>
            </a:r>
            <a:endParaRPr lang="en-US" sz="10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F9AA8"/>
          </a:solidFill>
          <a:ln w="12700">
            <a:solidFill>
              <a:srgbClr val="0F9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ЗАКРЕПЛЕНИЕ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Шпаргалка: базовый набор тегов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0899648" y="228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5819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1848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06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2441448" y="1572768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· head · body · title · meta · link · script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190488" y="1417320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3368" y="15819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1848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7973568" y="1572768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· nav · main · section · article · aside · footer · div · span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58368" y="2532888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6974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34056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2441448" y="2688336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h1–h6 · p · strong · em · mark · code · pre · blockquote · time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190488" y="2532888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26974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734056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Списки и ссылки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7973568" y="2688336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 · ol · li · dl · dt · dd · a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58368" y="3648456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3813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8F8FA"/>
          </a:solidFill>
          <a:ln w="12700">
            <a:solidFill>
              <a:srgbClr val="E8F8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8496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2441448" y="3803904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· figure · figcaption · picture · video · audio · iframe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190488" y="3648456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3368" y="3813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7E2"/>
          </a:solidFill>
          <a:ln w="12700">
            <a:solidFill>
              <a:srgbClr val="FFF7E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8496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7973568" y="3803904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· caption · thead · tbody · tr · th · td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58368" y="4764024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492861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9651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2441448" y="4919472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· label · input · textarea · select · option · button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190488" y="486460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9050" dist="8890" dir="2700000" algn="bl" rotWithShape="0">
              <a:srgbClr val="1F2937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10528" y="51206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нужно запоминать все теги.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уметь выбрать подходящий по смыслу и проверить в справочнике.</a:t>
            </a:r>
            <a:endParaRPr lang="en-US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A971"/>
          </a:solidFill>
          <a:ln w="12700">
            <a:solidFill>
              <a:srgbClr val="1FA97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4008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занятия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14356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9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= структура + смысл + связи между ресурсами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41248" y="2240280"/>
            <a:ext cx="420624" cy="420624"/>
          </a:xfrm>
          <a:prstGeom prst="ellipse">
            <a:avLst/>
          </a:prstGeom>
          <a:solidFill>
            <a:srgbClr val="12382A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24405"/>
            <a:ext cx="420624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E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Теги формируют элементы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754880" y="22219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9FB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парные, пустые, вложенные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41248" y="3044952"/>
            <a:ext cx="420624" cy="420624"/>
          </a:xfrm>
          <a:prstGeom prst="ellipse">
            <a:avLst/>
          </a:prstGeom>
          <a:solidFill>
            <a:srgbClr val="12382A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29077"/>
            <a:ext cx="420624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E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30266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Атрибуты уточняют поведение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54880" y="30266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9FB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class, href, src, alt, name…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41248" y="3849624"/>
            <a:ext cx="420624" cy="420624"/>
          </a:xfrm>
          <a:prstGeom prst="ellipse">
            <a:avLst/>
          </a:prstGeom>
          <a:solidFill>
            <a:srgbClr val="12382A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933749"/>
            <a:ext cx="420624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E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38313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Семантика важнее внешнего вида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754880" y="38313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9FB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можно поменять, смысл должен остаться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841248" y="4654296"/>
            <a:ext cx="420624" cy="420624"/>
          </a:xfrm>
          <a:prstGeom prst="ellipse">
            <a:avLst/>
          </a:prstGeom>
          <a:solidFill>
            <a:srgbClr val="12382A"/>
          </a:solidFill>
          <a:ln w="15240">
            <a:solidFill>
              <a:srgbClr val="1FA9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738421"/>
            <a:ext cx="420624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E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46360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проверяется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754880" y="46360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9FB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DevTools, клавиатура, валидатор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749808" y="605332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Вопросы?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927080" y="6309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5541</Words>
  <Application>Microsoft Macintosh PowerPoint</Application>
  <PresentationFormat>Широкоэкранный</PresentationFormat>
  <Paragraphs>757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Яндекс Еда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— структура, теги, атрибуты и основные элементы</dc:title>
  <dc:subject>HTML: теги, атрибуты и основные элементы</dc:subject>
  <dc:creator>Максим</dc:creator>
  <cp:lastModifiedBy>Maksim Drobyshev</cp:lastModifiedBy>
  <cp:revision>4</cp:revision>
  <dcterms:created xsi:type="dcterms:W3CDTF">2026-09-07T10:21:01Z</dcterms:created>
  <dcterms:modified xsi:type="dcterms:W3CDTF">2026-09-07T13:17:44Z</dcterms:modified>
</cp:coreProperties>
</file>