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90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15"/>
    <p:restoredTop sz="94646"/>
  </p:normalViewPr>
  <p:slideViewPr>
    <p:cSldViewPr snapToGrid="0" snapToObjects="1">
      <p:cViewPr varScale="1">
        <p:scale>
          <a:sx n="215" d="100"/>
          <a:sy n="215" d="100"/>
        </p:scale>
        <p:origin x="13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2505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Свяжите тему с предыдущими лекциями: HTML, CSS и JavaScript уже знакомы; React добавляет способ организовать сложный интерфейс.
• Обозначьте маршрут: компоненты и JSX → props и события → рендеринг → state.
• Сразу договоритесь: все примеры будут на функциональных компонентах и TypeScript.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Покажите временную карту и предупредите: большая часть времени уйдёт на модель рендеринга и состояние.
• JSX и компоненты знакомы внешне, но важно освоить декларативное мышление.
• Модель рендеринга — мост от компонентов и событий к внутреннему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Не обесценивайте vanilla JS: он остаётся фундаментом, а React строится поверх браузерной платформы.
• Проблема появляется не из-за querySelector, а из-за количества состояний и обязанностей по синхронизации.
• Переход: React меняет уровень абстракции — описываем результат для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Дайте точное определение: React — библиотека, а не полный framework.
• Для полноценного приложения вокруг React выбирают дополнительные инструменты или React-фреймворк.
• Не обещайте автоматическую производительность: React даёт модель обновления, а качество архитектуры остаётся ответственностью разработчика.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Это центральная ментальная модель всей лекции.
• Компонент не должен «докрашивать» предыдущий UI — он заново описывает результат для текущих props и state.
• События меняют данные; React отвечает за приведение экрана в соответствие.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Компонент — JavaScript-функция с соглашениями React, а не специальный класс.
• Файл .tsx позволяет использовать JSX и типы TypeScript вместе.
• Границы компонентов выбирают по ответственности и повторному использованию, а не по каждому тегу.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Слайд нужен, чтобы не ожидать от React встроенного роутера, HTTP-клиента или CSS-системы.
• На старте используем минимальную связку Vite + React DOM + TypeScript.
• Фреймворки и роутинг логично обсуждать после освоения базовой модели компонентов.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Покажите команды целиком — это минимальный старт без ручной конфигурации bundler-а.
• В реальном демо заранее проверьте совместимую версию Node.js.
• Референс использовал Create React App; поясните, что сейчас этот путь устарел.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Покажите, что React-проект всё равно начинается с обычного index.html.
• Основной код делится на ES-модули; Vite связывает их и собирает production-версию.
• Важно различать root DOM-узел и корневой React-компонент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Сопоставьте с прошлой лекцией: document.getElementById — Browser API, createRoot — API React DOM.
• React может занимать не всю страницу, а только отдельный контейнер.
• StrictMode в development может специально повторять вызовы — позже объясним, зачем.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Современный React учим через функции; классовые компоненты понадобятся только при чтении старого кода.
• Заглавная буква — сигнал компилятору JSX, что это пользовательский компонент.
• Не называйте JSX «HTML внутри JS» без уточнения: это отдельный синтаксис, который преобразуется в JavaScript.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React-дерево описывает вызовы компонентов; DOM-дерево содержит реальные элементы браузера.
• Один компонент может вернуть другой компонент, а тот — DOM-элементы.
• Композиция предпочтительнее наследования для построения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Покажите, что JSX — не шаблонная строка и не DOM-узел.
• Современный JSX transform обычно использует react/jsx-runtime; не привязывайте ментальную модель только к React.createElement.
• Браузер получает уже преобразованный JavaScript.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JSX разбирается JavaScript-toolchain-ом, поэтому синтаксис должен быть однозначным.
• Fragment не добавляет лишний DOM-узел.
• className и htmlFor нужны из-за JavaScript API и исторических причин.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Свяжите JSX с уже знакомым JavaScript: внутри скобок работают обычные выражения.
• Не учите особый язык условий React — используются if, ?:, &amp;&amp; и методы массивов.
• В JSX автоматически экранируются строковые значения; это безопаснее, чем innerHTML.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className работает как обычный HTML class после commit.
• Inline style в React — объект; двойные скобки означают JSX-выражение и объектный литерал.
• Не переносите весь CSS в style: псевдоклассы, media queries и каскад удобнее оставить 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Guard clauses делают ветвления интерфейса линейными.
• Предупредите про 0 &amp;&amp; &lt;Component /&gt;: React может вывести 0; условие лучше сделать boolean.
• Не создавайте state только ради условного JSX — условие вычисляется из уже имеющихся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map превращает данные в массив React-элементов; это обычный JavaScript.
• Key нужен React, а не DOM; в итоговой разметке атрибут key не появится.
• Индекс допустим только для действительно статичного списка, который не меняет порядок.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Props — один объект, даже если в JSX перечислено несколько атрибутов.
• TypeScript делает контракт компонента видимым и проверяемым.
• Значение по умолчанию в деструктуризации срабатывает для undefined.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React рассматривает props как снимок входов текущего render.
• Производные значения вычислять можно; мутировать входной объект нельзя.
• Однонаправленный поток упрощает поиск причины изменения.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children — обычный prop с JSX-содержимым между открывающим и закрывающим тегом.
• Так строятся layout-компоненты, панели, модальные окна и кнопки с иконками.
• Композиция снижает количество узкоспециализированных props.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Сравните с addEventListener из прошлой лекции: модель события та же, синтаксис подключения другой.
• Функция обработчика может читать props и state текущего render.
• Событие — подходящее место для побочного действия, вызванного конкретным действием пользователя.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Props идут от родителя к детям; ребёнок не может «протолкнуть» новые props назад.
• Для связи вверх родитель передаёт callback, который ребёнок вызывает при событии.
• Это делает путь изменения данных прослеживаемым.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Используйте термины точно: render — вызов компонентов, browser render/paint — другое.
• Во время re-render React сначала вычисляет изменения, затем применяет их на commit.
• Если итоговый DOM не изменился, commit может ничего не сделать.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Изменение props не является отдельным сигналом: новые props появляются, когда родитель рендерится.
• По умолчанию React рекурсивно вызывает вложенные компоненты обновившейся ветки.
• Оптимизацию обсуждайте только после измерений; сейчас важна предсказуемая модель.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React может вызвать компонент больше одного раза и не обязан сразу commit-ить результат.
• Поэтому render не должен иметь наблюдаемых побочных эффектов.
• Действия, вызванные пользователем, выполняйте в обработчиках событий; внешние интеграции разберём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State не хранится «в функции» — React хранит его относительно позиции в дереве.
• Key влияет не только на списки: им можно управлять сохранением или сбросом state.
• Не меняйте key случайно на каждом render, иначе компонент будет постоянно размонтироваться.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State нужен для данных, которые меняются со временем и влияют на render.
• Обычная локальная переменная не переживает следующий вызов компонента и не запускает render.
• Правила Hooks обеспечивают одинаковый порядок вызовов между render-ами.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TypeScript помогает сделать недопустимые состояния непредставимыми — например union вместо произвольной строки.
• Инициализатор state может быть функцией для ленивого вычисления.
• Не храните в state formattedTotal, если его можно получить из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Локальная переменная count не меняется внутри уже выполняющегося обработчика.
• React batching уменьшает количество render-ов после серии обновлений.
• Updater-форма нужна, когда следующее значение зависит от предыдущего.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React использует ссылочную идентичность как важный сигнал изменений.
• Мутация существующего объекта усложняет историю состояния и может не привести к ожидаемому обновлению.
• Spread — поверхностная копия; вложенные уровни обновляются отдельно.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Если два компонента должны координироваться, их общее состояние обычно хранится выше.
• Controlled-компонент получает значение и callback, а не хранит дублирующий state.
• Поднимать состояние нужно только настолько высоко, насколько требуется совместное использование.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Завершите формулой: props/state → render → commit; state меняется через события и setter-функции.
• Попросите студентов устно объяснить путь клика по кнопке до изменения DOM.
• Анонсируйте следующий блок курса: формы, custom hooks, context и работа с данными.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71632" y="310896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&lt;REACT + TSX&gt;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658600" y="10972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58368" y="877824"/>
            <a:ext cx="6035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— введение,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компоненты и состояние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JSX, props, рендеринг и useState</a:t>
            </a:r>
            <a:endParaRPr lang="en-US" sz="1420" dirty="0"/>
          </a:p>
        </p:txBody>
      </p:sp>
      <p:sp>
        <p:nvSpPr>
          <p:cNvPr id="6" name="Text 4"/>
          <p:cNvSpPr/>
          <p:nvPr/>
        </p:nvSpPr>
        <p:spPr>
          <a:xfrm>
            <a:off x="685800" y="4050792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Максим</a:t>
            </a: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Дробышев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43251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старший разработчик · Яндекс Еда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6720840" y="1490472"/>
            <a:ext cx="4709160" cy="0"/>
          </a:xfrm>
          <a:prstGeom prst="line">
            <a:avLst/>
          </a:prstGeom>
          <a:noFill/>
          <a:ln w="8890">
            <a:solidFill>
              <a:srgbClr val="22304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995160" y="1216152"/>
            <a:ext cx="0" cy="4434840"/>
          </a:xfrm>
          <a:prstGeom prst="line">
            <a:avLst/>
          </a:prstGeom>
          <a:noFill/>
          <a:ln w="8890">
            <a:solidFill>
              <a:srgbClr val="22304A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0" y="1216152"/>
            <a:ext cx="0" cy="4434840"/>
          </a:xfrm>
          <a:prstGeom prst="line">
            <a:avLst/>
          </a:prstGeom>
          <a:noFill/>
          <a:ln w="8890">
            <a:solidFill>
              <a:srgbClr val="22304A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549640" y="1216152"/>
            <a:ext cx="0" cy="4434840"/>
          </a:xfrm>
          <a:prstGeom prst="line">
            <a:avLst/>
          </a:prstGeom>
          <a:noFill/>
          <a:ln w="8890">
            <a:solidFill>
              <a:srgbClr val="22304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326880" y="1216152"/>
            <a:ext cx="0" cy="4434840"/>
          </a:xfrm>
          <a:prstGeom prst="line">
            <a:avLst/>
          </a:prstGeom>
          <a:noFill/>
          <a:ln w="8890">
            <a:solidFill>
              <a:srgbClr val="22304A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104120" y="1216152"/>
            <a:ext cx="0" cy="4434840"/>
          </a:xfrm>
          <a:prstGeom prst="line">
            <a:avLst/>
          </a:prstGeom>
          <a:noFill/>
          <a:ln w="8890">
            <a:solidFill>
              <a:srgbClr val="22304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881360" y="1216152"/>
            <a:ext cx="0" cy="4434840"/>
          </a:xfrm>
          <a:prstGeom prst="line">
            <a:avLst/>
          </a:prstGeom>
          <a:noFill/>
          <a:ln w="8890">
            <a:solidFill>
              <a:srgbClr val="22304A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269480" y="1353312"/>
            <a:ext cx="1874520" cy="658368"/>
          </a:xfrm>
          <a:prstGeom prst="roundRect">
            <a:avLst>
              <a:gd name="adj" fmla="val 9722"/>
            </a:avLst>
          </a:prstGeom>
          <a:solidFill>
            <a:srgbClr val="182235"/>
          </a:solidFill>
          <a:ln w="12700">
            <a:solidFill>
              <a:srgbClr val="33415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434072" y="1517904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&lt;App /&gt;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11312" y="2011680"/>
            <a:ext cx="0" cy="475488"/>
          </a:xfrm>
          <a:prstGeom prst="line">
            <a:avLst/>
          </a:prstGeom>
          <a:noFill/>
          <a:ln w="19050">
            <a:solidFill>
              <a:srgbClr val="B9CEF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537960" y="2487168"/>
            <a:ext cx="1783080" cy="694944"/>
          </a:xfrm>
          <a:prstGeom prst="roundRect">
            <a:avLst>
              <a:gd name="adj" fmla="val 9211"/>
            </a:avLst>
          </a:prstGeom>
          <a:solidFill>
            <a:srgbClr val="231E46"/>
          </a:solidFill>
          <a:ln w="12700">
            <a:solidFill>
              <a:srgbClr val="7C4D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702552" y="2651760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D8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&lt;Header /&gt;</a:t>
            </a:r>
            <a:endParaRPr lang="en-US" sz="1130" dirty="0"/>
          </a:p>
        </p:txBody>
      </p:sp>
      <p:sp>
        <p:nvSpPr>
          <p:cNvPr id="21" name="Shape 19"/>
          <p:cNvSpPr/>
          <p:nvPr/>
        </p:nvSpPr>
        <p:spPr>
          <a:xfrm>
            <a:off x="8558784" y="2487168"/>
            <a:ext cx="1874520" cy="694944"/>
          </a:xfrm>
          <a:prstGeom prst="roundRect">
            <a:avLst>
              <a:gd name="adj" fmla="val 9211"/>
            </a:avLst>
          </a:prstGeom>
          <a:solidFill>
            <a:srgbClr val="20374A"/>
          </a:solidFill>
          <a:ln w="12700">
            <a:solidFill>
              <a:srgbClr val="0796A8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723376" y="2651760"/>
            <a:ext cx="1545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b="1" dirty="0">
                <a:solidFill>
                  <a:srgbClr val="C5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&lt;ProductList /&gt;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9500616" y="3182112"/>
            <a:ext cx="0" cy="475488"/>
          </a:xfrm>
          <a:prstGeom prst="line">
            <a:avLst/>
          </a:prstGeom>
          <a:noFill/>
          <a:ln w="19050">
            <a:solidFill>
              <a:srgbClr val="A7DEE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479792" y="3675888"/>
            <a:ext cx="1481328" cy="694944"/>
          </a:xfrm>
          <a:prstGeom prst="roundRect">
            <a:avLst>
              <a:gd name="adj" fmla="val 9211"/>
            </a:avLst>
          </a:prstGeom>
          <a:solidFill>
            <a:srgbClr val="173A31"/>
          </a:solidFill>
          <a:ln w="12700">
            <a:solidFill>
              <a:srgbClr val="16A36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644384" y="3840480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b="1" dirty="0">
                <a:solidFill>
                  <a:srgbClr val="C7F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&lt;Card /&gt;</a:t>
            </a:r>
            <a:endParaRPr lang="en-US" sz="1110" dirty="0"/>
          </a:p>
        </p:txBody>
      </p:sp>
      <p:sp>
        <p:nvSpPr>
          <p:cNvPr id="26" name="Shape 24"/>
          <p:cNvSpPr/>
          <p:nvPr/>
        </p:nvSpPr>
        <p:spPr>
          <a:xfrm>
            <a:off x="9217152" y="3675888"/>
            <a:ext cx="1481328" cy="694944"/>
          </a:xfrm>
          <a:prstGeom prst="roundRect">
            <a:avLst>
              <a:gd name="adj" fmla="val 9211"/>
            </a:avLst>
          </a:prstGeom>
          <a:solidFill>
            <a:srgbClr val="173A31"/>
          </a:solidFill>
          <a:ln w="12700">
            <a:solidFill>
              <a:srgbClr val="16A36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381744" y="3840480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b="1" dirty="0">
                <a:solidFill>
                  <a:srgbClr val="C7F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&lt;Card /&gt;</a:t>
            </a:r>
            <a:endParaRPr lang="en-US" sz="1110" dirty="0"/>
          </a:p>
        </p:txBody>
      </p:sp>
      <p:sp>
        <p:nvSpPr>
          <p:cNvPr id="28" name="Shape 26"/>
          <p:cNvSpPr/>
          <p:nvPr/>
        </p:nvSpPr>
        <p:spPr>
          <a:xfrm>
            <a:off x="8220456" y="4370832"/>
            <a:ext cx="0" cy="457200"/>
          </a:xfrm>
          <a:prstGeom prst="line">
            <a:avLst/>
          </a:prstGeom>
          <a:noFill/>
          <a:ln w="19050">
            <a:solidFill>
              <a:srgbClr val="A7E4C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821424" y="4901184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1EDFF"/>
          </a:solidFill>
          <a:ln w="10160">
            <a:solidFill>
              <a:srgbClr val="CFC5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821424" y="49103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891272" y="4901184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ECFDF3"/>
          </a:solidFill>
          <a:ln w="1016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891272" y="49103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961120" y="4901184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F1EB"/>
          </a:solidFill>
          <a:ln w="10160">
            <a:solidFill>
              <a:srgbClr val="FFC5B2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961120" y="49103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0030968" y="4901184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 w="10160">
            <a:solidFill>
              <a:srgbClr val="B9CEF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0030968" y="49103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60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ЗАНЯТИЯ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0744200" y="256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33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85216" y="585216"/>
            <a:ext cx="11018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успеем за 90 минут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85216" y="1042416"/>
            <a:ext cx="11018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30480">
            <a:solidFill>
              <a:srgbClr val="7C4D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94944" y="1399032"/>
            <a:ext cx="10789920" cy="713232"/>
          </a:xfrm>
          <a:prstGeom prst="roundRect">
            <a:avLst>
              <a:gd name="adj" fmla="val 8974"/>
            </a:avLst>
          </a:prstGeom>
          <a:solidFill>
            <a:srgbClr val="F1EDFF"/>
          </a:solidFill>
          <a:ln w="12700">
            <a:solidFill>
              <a:srgbClr val="CFC5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508760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44752" y="149047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React и как запустить проект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7726680" y="150876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9646920" y="1508760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0–15 мин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94944" y="2313432"/>
            <a:ext cx="10789920" cy="713232"/>
          </a:xfrm>
          <a:prstGeom prst="roundRect">
            <a:avLst>
              <a:gd name="adj" fmla="val 8974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2423160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44752" y="240487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 и декларативное описание UI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7726680" y="242316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СИНТАКСИС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9646920" y="2423160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15–32 мин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94944" y="3227832"/>
            <a:ext cx="10789920" cy="713232"/>
          </a:xfrm>
          <a:prstGeom prst="roundRect">
            <a:avLst>
              <a:gd name="adj" fmla="val 8974"/>
            </a:avLst>
          </a:prstGeom>
          <a:solidFill>
            <a:srgbClr val="E8F7FA"/>
          </a:solidFill>
          <a:ln w="12700">
            <a:solidFill>
              <a:srgbClr val="A7DEE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" y="3337560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44752" y="331927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Компоненты, props и события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7726680" y="333756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КОМПОЗИЦИЯ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9646920" y="3337560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32–50 мин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694944" y="4142232"/>
            <a:ext cx="10789920" cy="713232"/>
          </a:xfrm>
          <a:prstGeom prst="roundRect">
            <a:avLst>
              <a:gd name="adj" fmla="val 8974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14400" y="4251960"/>
            <a:ext cx="3840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44752" y="4233672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Рендеринг и внутренний state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7726680" y="4251960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9646920" y="4251960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</a:t>
            </a:r>
            <a:r>
              <a:rPr lang="ru-RU" sz="88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</a:t>
            </a:r>
            <a:r>
              <a:rPr lang="en-US" sz="880" dirty="0" err="1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731520" y="615391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отдельной практики: короткие демонстрации поведения — в заметках лектора.</a:t>
            </a:r>
            <a:endParaRPr lang="en-US" sz="9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60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0744200" y="256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33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85216" y="585216"/>
            <a:ext cx="11018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Императивный DOM работает — пока интерфейс небольшой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85216" y="1042416"/>
            <a:ext cx="11018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30480">
            <a:solidFill>
              <a:srgbClr val="7C4D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8368" y="1371600"/>
            <a:ext cx="5120640" cy="4526280"/>
          </a:xfrm>
          <a:prstGeom prst="roundRect">
            <a:avLst>
              <a:gd name="adj" fmla="val 1616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481328"/>
            <a:ext cx="4791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imperative.js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822960" y="1719072"/>
            <a:ext cx="4791456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button = document.querySelector('.buy');</a:t>
            </a:r>
            <a:endParaRPr lang="en-US" sz="114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counter = document.querySelector('.count');</a:t>
            </a:r>
            <a:endParaRPr lang="en-US" sz="1140" dirty="0"/>
          </a:p>
          <a:p>
            <a:pPr marL="0" indent="0" algn="l">
              <a:lnSpc>
                <a:spcPct val="100000"/>
              </a:lnSpc>
              <a:buNone/>
            </a:pPr>
            <a:endParaRPr lang="en-US" sz="114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value = 0;</a:t>
            </a:r>
            <a:endParaRPr lang="en-US" sz="1140" dirty="0"/>
          </a:p>
          <a:p>
            <a:pPr marL="0" indent="0" algn="l">
              <a:lnSpc>
                <a:spcPct val="100000"/>
              </a:lnSpc>
              <a:buNone/>
            </a:pPr>
            <a:endParaRPr lang="en-US" sz="114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button.addEventListener('click', () =&gt; {</a:t>
            </a:r>
            <a:endParaRPr lang="en-US" sz="114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+= 1;</a:t>
            </a:r>
            <a:endParaRPr lang="en-US" sz="114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counter.textContent = String(value);</a:t>
            </a:r>
            <a:endParaRPr lang="en-US" sz="114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button.disabled = value &gt;= 10;</a:t>
            </a:r>
            <a:endParaRPr lang="en-US" sz="114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document.body.dataset.state =</a:t>
            </a:r>
            <a:endParaRPr lang="en-US" sz="114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 &gt;= 10 ? 'done' : 'active';</a:t>
            </a:r>
            <a:endParaRPr lang="en-US" sz="114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6400800" y="148132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больше состояний, тем больше ручной синхронизации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057400"/>
            <a:ext cx="2331720" cy="1042416"/>
          </a:xfrm>
          <a:prstGeom prst="roundRect">
            <a:avLst>
              <a:gd name="adj" fmla="val 6140"/>
            </a:avLst>
          </a:prstGeom>
          <a:solidFill>
            <a:srgbClr val="F1EDFF"/>
          </a:solidFill>
          <a:ln w="12700">
            <a:solidFill>
              <a:srgbClr val="CFC5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65392" y="2176272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6565392" y="2414016"/>
            <a:ext cx="200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изменился — какие узлы должны обновиться?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8915400" y="2057400"/>
            <a:ext cx="2331720" cy="1042416"/>
          </a:xfrm>
          <a:prstGeom prst="roundRect">
            <a:avLst>
              <a:gd name="adj" fmla="val 6140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79992" y="2176272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9079992" y="2414016"/>
            <a:ext cx="200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нужно помнить порядок вызовов и ссылки на элементы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6400800" y="3383280"/>
            <a:ext cx="2331720" cy="1042416"/>
          </a:xfrm>
          <a:prstGeom prst="roundRect">
            <a:avLst>
              <a:gd name="adj" fmla="val 6140"/>
            </a:avLst>
          </a:prstGeom>
          <a:solidFill>
            <a:srgbClr val="FFF1EB"/>
          </a:solidFill>
          <a:ln w="12700">
            <a:solidFill>
              <a:srgbClr val="FFC5B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565392" y="3502152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СОСТОЯНИЯ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6565392" y="3739896"/>
            <a:ext cx="200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loading, error, empty, success быстро образуют комбинации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8915400" y="3383280"/>
            <a:ext cx="2331720" cy="1042416"/>
          </a:xfrm>
          <a:prstGeom prst="roundRect">
            <a:avLst>
              <a:gd name="adj" fmla="val 6140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079992" y="3502152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ПОДДЕРЖКА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9079992" y="3739896"/>
            <a:ext cx="200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разметка и логика изменения интерфейса разъезжаются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6446520" y="4983480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предлагает описывать, как UI должен выглядеть для текущих данных, а не перечислять каждую DOM-операцию.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60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0744200" y="256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33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85216" y="585216"/>
            <a:ext cx="11018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— библиотека для построения пользовательских интерфейсов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85216" y="1042416"/>
            <a:ext cx="11018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30480">
            <a:solidFill>
              <a:srgbClr val="7C4D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85800" y="1417320"/>
            <a:ext cx="3429000" cy="1828800"/>
          </a:xfrm>
          <a:prstGeom prst="roundRect">
            <a:avLst>
              <a:gd name="adj" fmla="val 3500"/>
            </a:avLst>
          </a:prstGeom>
          <a:solidFill>
            <a:srgbClr val="F1EDFF"/>
          </a:solidFill>
          <a:ln w="12700">
            <a:solidFill>
              <a:srgbClr val="CFC5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50392" y="1536192"/>
            <a:ext cx="3099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ИДЕЯ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850392" y="1773936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 из компонентов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0392" y="2167128"/>
            <a:ext cx="30998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Независимые части UI объединяются в дерево: кнопки, карточки, формы, страницы.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417320"/>
            <a:ext cx="3429000" cy="1828800"/>
          </a:xfrm>
          <a:prstGeom prst="roundRect">
            <a:avLst>
              <a:gd name="adj" fmla="val 3500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53712" y="1536192"/>
            <a:ext cx="3099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4553712" y="1773936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Декларативный рендеринг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53712" y="2167128"/>
            <a:ext cx="30998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 получает данные и возвращает описание того, что должно быть на экране.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92440" y="1417320"/>
            <a:ext cx="3429000" cy="1828800"/>
          </a:xfrm>
          <a:prstGeom prst="roundRect">
            <a:avLst>
              <a:gd name="adj" fmla="val 3500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57032" y="1536192"/>
            <a:ext cx="3099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ОБНОВЛЕНИЯ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8257032" y="1773936"/>
            <a:ext cx="3099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запускает новый render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57032" y="2167128"/>
            <a:ext cx="30998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сравнивает результаты и применяет к DOM только необходимые изменения.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3749040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Чего React сам по себе не определяет</a:t>
            </a:r>
            <a:endParaRPr lang="en-US" sz="1430" dirty="0"/>
          </a:p>
        </p:txBody>
      </p:sp>
      <p:sp>
        <p:nvSpPr>
          <p:cNvPr id="20" name="Shape 18"/>
          <p:cNvSpPr/>
          <p:nvPr/>
        </p:nvSpPr>
        <p:spPr>
          <a:xfrm>
            <a:off x="713232" y="4224528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016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13232" y="42336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маршрутизацию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2542032" y="4224528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016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542032" y="42336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получение данных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4370832" y="4224528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016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370832" y="42336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структуру проекта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713232" y="4791456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016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13232" y="480060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стратегию CSS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2542032" y="4791456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016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2542032" y="480060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серверный рендеринг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6766560" y="3703320"/>
            <a:ext cx="4754880" cy="1417320"/>
          </a:xfrm>
          <a:prstGeom prst="roundRect">
            <a:avLst>
              <a:gd name="adj" fmla="val 4516"/>
            </a:avLst>
          </a:prstGeom>
          <a:solidFill>
            <a:srgbClr val="FFF1EB"/>
          </a:solidFill>
          <a:ln w="12700">
            <a:solidFill>
              <a:srgbClr val="FFC5B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931152" y="3822192"/>
            <a:ext cx="4425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ВАЖНО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6931152" y="4059936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— не браузерный стандарт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931152" y="4453128"/>
            <a:ext cx="44256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 понимает HTML, CSS и JavaScript. JSX и компоненты проходят через toolchain, а итоговый код использует React и DOM API.</a:t>
            </a:r>
            <a:endParaRPr lang="en-US" sz="10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60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0744200" y="256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33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85216" y="585216"/>
            <a:ext cx="11018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Главная формула: UI — функция от данных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85216" y="1042416"/>
            <a:ext cx="11018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30480">
            <a:solidFill>
              <a:srgbClr val="7C4D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13533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7C4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= render(props, state)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22960" y="190195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одни и те же входы → один и тот же JSX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7040880" y="1261872"/>
            <a:ext cx="1920240" cy="749808"/>
          </a:xfrm>
          <a:prstGeom prst="roundRect">
            <a:avLst>
              <a:gd name="adj" fmla="val 8537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205472" y="1426464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281160" y="1261872"/>
            <a:ext cx="1920240" cy="749808"/>
          </a:xfrm>
          <a:prstGeom prst="roundRect">
            <a:avLst>
              <a:gd name="adj" fmla="val 8537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445752" y="1426464"/>
            <a:ext cx="1591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01000" y="2039112"/>
            <a:ext cx="614836" cy="384048"/>
          </a:xfrm>
          <a:prstGeom prst="line">
            <a:avLst/>
          </a:prstGeom>
          <a:noFill/>
          <a:ln w="21590">
            <a:solidFill>
              <a:srgbClr val="2F6FE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flipH="1">
            <a:off x="9626444" y="2039112"/>
            <a:ext cx="614836" cy="402336"/>
          </a:xfrm>
          <a:prstGeom prst="line">
            <a:avLst/>
          </a:prstGeom>
          <a:noFill/>
          <a:ln w="21590">
            <a:solidFill>
              <a:srgbClr val="16A3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065008" y="2423160"/>
            <a:ext cx="2103120" cy="914400"/>
          </a:xfrm>
          <a:prstGeom prst="ellipse">
            <a:avLst/>
          </a:prstGeom>
          <a:solidFill>
            <a:srgbClr val="7C4DFF"/>
          </a:solidFill>
          <a:ln w="17780">
            <a:solidFill>
              <a:srgbClr val="9C7B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65008" y="26609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25712" y="3355848"/>
            <a:ext cx="0" cy="594360"/>
          </a:xfrm>
          <a:prstGeom prst="line">
            <a:avLst/>
          </a:prstGeom>
          <a:noFill/>
          <a:ln w="22860">
            <a:solidFill>
              <a:srgbClr val="7C4DF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863840" y="3977640"/>
            <a:ext cx="2514600" cy="804672"/>
          </a:xfrm>
          <a:prstGeom prst="roundRect">
            <a:avLst>
              <a:gd name="adj" fmla="val 795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028432" y="4142232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описание интерфейса</a:t>
            </a:r>
            <a:endParaRPr lang="en-US" sz="1210" dirty="0"/>
          </a:p>
        </p:txBody>
      </p:sp>
      <p:sp>
        <p:nvSpPr>
          <p:cNvPr id="20" name="Shape 18"/>
          <p:cNvSpPr/>
          <p:nvPr/>
        </p:nvSpPr>
        <p:spPr>
          <a:xfrm>
            <a:off x="9125712" y="4782312"/>
            <a:ext cx="0" cy="585216"/>
          </a:xfrm>
          <a:prstGeom prst="line">
            <a:avLst/>
          </a:prstGeom>
          <a:noFill/>
          <a:ln w="22860">
            <a:solidFill>
              <a:srgbClr val="F05A2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001000" y="5349240"/>
            <a:ext cx="2240280" cy="694944"/>
          </a:xfrm>
          <a:prstGeom prst="roundRect">
            <a:avLst>
              <a:gd name="adj" fmla="val 9211"/>
            </a:avLst>
          </a:prstGeom>
          <a:solidFill>
            <a:srgbClr val="FFF1EB"/>
          </a:solidFill>
          <a:ln w="12700">
            <a:solidFill>
              <a:srgbClr val="FFC5B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165592" y="5513832"/>
            <a:ext cx="1911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 + экран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777240" y="2743200"/>
            <a:ext cx="4937760" cy="2423160"/>
          </a:xfrm>
          <a:prstGeom prst="roundRect">
            <a:avLst>
              <a:gd name="adj" fmla="val 2642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51560" y="299923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 не рисуют UI напрямую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097280" y="3474720"/>
            <a:ext cx="4206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Пользователь нажал кнопку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Обработчик обновил state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React запланировал render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DOM приведён к новому описанию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60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0744200" y="256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33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85216" y="585216"/>
            <a:ext cx="11018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 объединяет разметку и логику одной части интерфейса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85216" y="1042416"/>
            <a:ext cx="11018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30480">
            <a:solidFill>
              <a:srgbClr val="7C4D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8368" y="1371600"/>
            <a:ext cx="4983480" cy="4773168"/>
          </a:xfrm>
          <a:prstGeom prst="roundRect">
            <a:avLst>
              <a:gd name="adj" fmla="val 1533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481328"/>
            <a:ext cx="4654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ProductCard.tsx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822960" y="1719072"/>
            <a:ext cx="465429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ProductCardProps = {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string;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price: number;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ProductCard({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title,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price,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}: ProductCardProps) {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&lt;article className="card"&gt;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&lt;h2&gt;{title}&lt;/h2&gt;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&lt;p&gt;{price} ₽&lt;/p&gt;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&lt;button&gt;Купить&lt;/button&gt;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&lt;/article&gt;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90" dirty="0"/>
          </a:p>
        </p:txBody>
      </p:sp>
      <p:sp>
        <p:nvSpPr>
          <p:cNvPr id="10" name="Text 8"/>
          <p:cNvSpPr/>
          <p:nvPr/>
        </p:nvSpPr>
        <p:spPr>
          <a:xfrm>
            <a:off x="6199632" y="1435608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делает компонент хорошей единицей</a:t>
            </a:r>
            <a:endParaRPr lang="en-US" sz="1530" dirty="0"/>
          </a:p>
        </p:txBody>
      </p:sp>
      <p:sp>
        <p:nvSpPr>
          <p:cNvPr id="11" name="Shape 9"/>
          <p:cNvSpPr/>
          <p:nvPr/>
        </p:nvSpPr>
        <p:spPr>
          <a:xfrm>
            <a:off x="6199632" y="1993392"/>
            <a:ext cx="2395728" cy="1298448"/>
          </a:xfrm>
          <a:prstGeom prst="roundRect">
            <a:avLst>
              <a:gd name="adj" fmla="val 4930"/>
            </a:avLst>
          </a:prstGeom>
          <a:solidFill>
            <a:srgbClr val="F1EDFF"/>
          </a:solidFill>
          <a:ln w="12700">
            <a:solidFill>
              <a:srgbClr val="CFC5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64224" y="2112264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СМЫСЛ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6364224" y="235000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 понятная ответственность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6364224" y="268833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товара, поле поиска, профиль — не случайный набор div.</a:t>
            </a:r>
            <a:endParaRPr lang="en-US" sz="890" dirty="0"/>
          </a:p>
        </p:txBody>
      </p:sp>
      <p:sp>
        <p:nvSpPr>
          <p:cNvPr id="15" name="Shape 13"/>
          <p:cNvSpPr/>
          <p:nvPr/>
        </p:nvSpPr>
        <p:spPr>
          <a:xfrm>
            <a:off x="8805672" y="1993392"/>
            <a:ext cx="2395728" cy="1298448"/>
          </a:xfrm>
          <a:prstGeom prst="roundRect">
            <a:avLst>
              <a:gd name="adj" fmla="val 4930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70264" y="2112264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ВХОДЫ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8970264" y="2350008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Явные props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8970264" y="2688336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приходят через параметры, а не читаются из случайных глобальных переменных.</a:t>
            </a:r>
            <a:endParaRPr lang="en-US" sz="890" dirty="0"/>
          </a:p>
        </p:txBody>
      </p:sp>
      <p:sp>
        <p:nvSpPr>
          <p:cNvPr id="19" name="Shape 17"/>
          <p:cNvSpPr/>
          <p:nvPr/>
        </p:nvSpPr>
        <p:spPr>
          <a:xfrm>
            <a:off x="6199632" y="3566160"/>
            <a:ext cx="2395728" cy="1298448"/>
          </a:xfrm>
          <a:prstGeom prst="roundRect">
            <a:avLst>
              <a:gd name="adj" fmla="val 4930"/>
            </a:avLst>
          </a:prstGeom>
          <a:solidFill>
            <a:srgbClr val="E8F7FA"/>
          </a:solidFill>
          <a:ln w="12700">
            <a:solidFill>
              <a:srgbClr val="A7DEE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64224" y="3685032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ВЫХОД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6364224" y="392277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 как описание UI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6364224" y="4261104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коду видно, что компонент покажет для переданных данных.</a:t>
            </a:r>
            <a:endParaRPr lang="en-US" sz="890" dirty="0"/>
          </a:p>
        </p:txBody>
      </p:sp>
      <p:sp>
        <p:nvSpPr>
          <p:cNvPr id="23" name="Shape 21"/>
          <p:cNvSpPr/>
          <p:nvPr/>
        </p:nvSpPr>
        <p:spPr>
          <a:xfrm>
            <a:off x="8805672" y="3566160"/>
            <a:ext cx="2395728" cy="1298448"/>
          </a:xfrm>
          <a:prstGeom prst="roundRect">
            <a:avLst>
              <a:gd name="adj" fmla="val 4930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970264" y="3685032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КОМПОЗИЦИЯ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8970264" y="3922776"/>
            <a:ext cx="2066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Можно вкладывать и переиспользовать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8970264" y="4261104"/>
            <a:ext cx="2066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Крупный экран складывается из маленьких компонентов.</a:t>
            </a:r>
            <a:endParaRPr lang="en-US" sz="8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60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0744200" y="256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33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85216" y="585216"/>
            <a:ext cx="11018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— центр экосистемы, но не вся архитектура приложения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85216" y="1042416"/>
            <a:ext cx="11018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30480">
            <a:solidFill>
              <a:srgbClr val="7C4DF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315968" y="2176272"/>
            <a:ext cx="3520440" cy="1097280"/>
          </a:xfrm>
          <a:prstGeom prst="roundRect">
            <a:avLst>
              <a:gd name="adj" fmla="val 5833"/>
            </a:avLst>
          </a:prstGeom>
          <a:solidFill>
            <a:srgbClr val="F1EDFF"/>
          </a:solidFill>
          <a:ln w="12700">
            <a:solidFill>
              <a:srgbClr val="CFC5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480560" y="2295144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4480560" y="2532888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80560" y="2926080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компоненты · state · hooks · reconciliation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777240" y="1234440"/>
            <a:ext cx="2834640" cy="1143000"/>
          </a:xfrm>
          <a:prstGeom prst="roundRect">
            <a:avLst>
              <a:gd name="adj" fmla="val 5600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41832" y="1353312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RENDERER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941832" y="1591056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react-dom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41832" y="1965960"/>
            <a:ext cx="2505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рендер в браузерный DOM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577072" y="1234440"/>
            <a:ext cx="2834640" cy="1143000"/>
          </a:xfrm>
          <a:prstGeom prst="roundRect">
            <a:avLst>
              <a:gd name="adj" fmla="val 5600"/>
            </a:avLst>
          </a:prstGeom>
          <a:solidFill>
            <a:srgbClr val="E8F7FA"/>
          </a:solidFill>
          <a:ln w="12700">
            <a:solidFill>
              <a:srgbClr val="A7DEE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741664" y="1353312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TOOLCHAIN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8741664" y="1591056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/ framework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41664" y="1965960"/>
            <a:ext cx="2505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JSX, TypeScript, dev server, build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7240" y="3886200"/>
            <a:ext cx="2834640" cy="1143000"/>
          </a:xfrm>
          <a:prstGeom prst="roundRect">
            <a:avLst>
              <a:gd name="adj" fmla="val 5600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41832" y="4005072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941832" y="4242816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1832" y="4617720"/>
            <a:ext cx="2505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маршруты и переходы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577072" y="3886200"/>
            <a:ext cx="2834640" cy="1143000"/>
          </a:xfrm>
          <a:prstGeom prst="roundRect">
            <a:avLst>
              <a:gd name="adj" fmla="val 5600"/>
            </a:avLst>
          </a:prstGeom>
          <a:solidFill>
            <a:srgbClr val="FFF1EB"/>
          </a:solidFill>
          <a:ln w="12700">
            <a:solidFill>
              <a:srgbClr val="FFC5B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741664" y="4005072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/ FULL STACK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8741664" y="4242816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741664" y="4617720"/>
            <a:ext cx="25054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routing, server rendering, data fetching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11880" y="1828800"/>
            <a:ext cx="704088" cy="576072"/>
          </a:xfrm>
          <a:prstGeom prst="line">
            <a:avLst/>
          </a:prstGeom>
          <a:noFill/>
          <a:ln w="17780">
            <a:solidFill>
              <a:srgbClr val="2F6FE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7872984" y="1828800"/>
            <a:ext cx="704088" cy="548636"/>
          </a:xfrm>
          <a:prstGeom prst="line">
            <a:avLst/>
          </a:prstGeom>
          <a:noFill/>
          <a:ln w="17780">
            <a:solidFill>
              <a:srgbClr val="0796A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V="1">
            <a:off x="3611879" y="3346704"/>
            <a:ext cx="1552973" cy="1115568"/>
          </a:xfrm>
          <a:prstGeom prst="line">
            <a:avLst/>
          </a:prstGeom>
          <a:noFill/>
          <a:ln w="17780">
            <a:solidFill>
              <a:srgbClr val="16A3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 flipH="1" flipV="1">
            <a:off x="7264958" y="3319269"/>
            <a:ext cx="1312114" cy="1143001"/>
          </a:xfrm>
          <a:prstGeom prst="line">
            <a:avLst/>
          </a:prstGeom>
          <a:noFill/>
          <a:ln w="17780">
            <a:solidFill>
              <a:srgbClr val="F05A2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97280" y="571500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учебного клиентского проекта: React + React DOM + Vite + TypeScript.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6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 ПРОЕКТА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0744200" y="256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33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85216" y="585216"/>
            <a:ext cx="11018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Создаём React + TypeScript проект через Vite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85216" y="1042416"/>
            <a:ext cx="11018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30480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13232" y="1444752"/>
            <a:ext cx="5623560" cy="2103120"/>
          </a:xfrm>
          <a:prstGeom prst="roundRect">
            <a:avLst>
              <a:gd name="adj" fmla="val 3478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77824" y="1554480"/>
            <a:ext cx="5294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877824" y="1792224"/>
            <a:ext cx="529437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create vite@latest react-intro -- --template react-ts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react-intro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12280" y="1463040"/>
            <a:ext cx="310896" cy="31089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12280" y="1463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251192" y="1426464"/>
            <a:ext cx="3995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7251192" y="1682496"/>
            <a:ext cx="3995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create-vite создаёт минимальную структуру и зависимости.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812280" y="2340864"/>
            <a:ext cx="310896" cy="310896"/>
          </a:xfrm>
          <a:prstGeom prst="ellipse">
            <a:avLst/>
          </a:prstGeom>
          <a:solidFill>
            <a:srgbClr val="0796A8"/>
          </a:solidFill>
          <a:ln w="12700">
            <a:solidFill>
              <a:srgbClr val="0796A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812280" y="2340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251192" y="2304288"/>
            <a:ext cx="3995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7251192" y="2560320"/>
            <a:ext cx="3995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устанавливает React, React DOM, TypeScript и Vite.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812280" y="3218688"/>
            <a:ext cx="310896" cy="310896"/>
          </a:xfrm>
          <a:prstGeom prst="ellipse">
            <a:avLst/>
          </a:prstGeom>
          <a:solidFill>
            <a:srgbClr val="16A36B"/>
          </a:solidFill>
          <a:ln w="12700">
            <a:solidFill>
              <a:srgbClr val="16A36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12280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251192" y="3182112"/>
            <a:ext cx="3995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server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7251192" y="3438144"/>
            <a:ext cx="3995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запускает страницу и обновляет её при изменениях.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713232" y="3986784"/>
            <a:ext cx="5303520" cy="1298448"/>
          </a:xfrm>
          <a:prstGeom prst="roundRect">
            <a:avLst>
              <a:gd name="adj" fmla="val 4930"/>
            </a:avLst>
          </a:prstGeom>
          <a:solidFill>
            <a:srgbClr val="FFF1EB"/>
          </a:solidFill>
          <a:ln w="12700">
            <a:solidFill>
              <a:srgbClr val="FFC5B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77824" y="4105656"/>
            <a:ext cx="4974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НЕ CREATE REACT APP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877824" y="4343400"/>
            <a:ext cx="49743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1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 переведён в режим sunset</a:t>
            </a:r>
            <a:endParaRPr lang="en-US" sz="1310" dirty="0"/>
          </a:p>
        </p:txBody>
      </p:sp>
      <p:sp>
        <p:nvSpPr>
          <p:cNvPr id="25" name="Text 23"/>
          <p:cNvSpPr/>
          <p:nvPr/>
        </p:nvSpPr>
        <p:spPr>
          <a:xfrm>
            <a:off x="877824" y="4736592"/>
            <a:ext cx="4974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современных учебных проектах используйте Vite или React-фреймворк. Старые CRA-проекты всё ещё можно поддерживать.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6720840" y="4133088"/>
            <a:ext cx="4572000" cy="1078992"/>
          </a:xfrm>
          <a:prstGeom prst="roundRect">
            <a:avLst>
              <a:gd name="adj" fmla="val 5932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885432" y="4251960"/>
            <a:ext cx="4242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720" dirty="0"/>
          </a:p>
        </p:txBody>
      </p:sp>
      <p:sp>
        <p:nvSpPr>
          <p:cNvPr id="28" name="Text 26"/>
          <p:cNvSpPr/>
          <p:nvPr/>
        </p:nvSpPr>
        <p:spPr>
          <a:xfrm>
            <a:off x="6885432" y="4489704"/>
            <a:ext cx="4242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http://localhost:5173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85432" y="4846320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 → src/main.tsx → &lt;App /&gt;</a:t>
            </a:r>
            <a:endParaRPr lang="en-US" sz="10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6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 ПРОЕКТА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0744200" y="256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33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85216" y="585216"/>
            <a:ext cx="11018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Минимальная структура проекта: HTML-вход и дерево модулей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85216" y="1042416"/>
            <a:ext cx="11018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30480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13232" y="1389888"/>
            <a:ext cx="3063240" cy="4526280"/>
          </a:xfrm>
          <a:prstGeom prst="roundRect">
            <a:avLst>
              <a:gd name="adj" fmla="val 2090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16642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react-intro/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78408" y="2148840"/>
            <a:ext cx="2423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index.html</a:t>
            </a:r>
            <a:endParaRPr lang="en-US" sz="1210" dirty="0"/>
          </a:p>
          <a:p>
            <a:pPr marL="0" indent="0" algn="l">
              <a:buNone/>
            </a:pPr>
            <a:r>
              <a:rPr lang="en-US" sz="121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package.json</a:t>
            </a:r>
            <a:endParaRPr lang="en-US" sz="1210" dirty="0"/>
          </a:p>
          <a:p>
            <a:pPr marL="0" indent="0" algn="l">
              <a:buNone/>
            </a:pPr>
            <a:r>
              <a:rPr lang="en-US" sz="121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tsconfig.json</a:t>
            </a:r>
            <a:endParaRPr lang="en-US" sz="1210" dirty="0"/>
          </a:p>
          <a:p>
            <a:pPr marL="0" indent="0" algn="l">
              <a:buNone/>
            </a:pPr>
            <a:r>
              <a:rPr lang="en-US" sz="121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src/</a:t>
            </a:r>
            <a:endParaRPr lang="en-US" sz="1210" dirty="0"/>
          </a:p>
          <a:p>
            <a:pPr marL="0" indent="0" algn="l">
              <a:buNone/>
            </a:pPr>
            <a:r>
              <a:rPr lang="en-US" sz="121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main.tsx</a:t>
            </a:r>
            <a:endParaRPr lang="en-US" sz="1210" dirty="0"/>
          </a:p>
          <a:p>
            <a:pPr marL="0" indent="0" algn="l">
              <a:buNone/>
            </a:pPr>
            <a:r>
              <a:rPr lang="en-US" sz="121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App.tsx</a:t>
            </a:r>
            <a:endParaRPr lang="en-US" sz="1210" dirty="0"/>
          </a:p>
          <a:p>
            <a:pPr marL="0" indent="0" algn="l">
              <a:buNone/>
            </a:pPr>
            <a:r>
              <a:rPr lang="en-US" sz="121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├─ App.css</a:t>
            </a:r>
            <a:endParaRPr lang="en-US" sz="1210" dirty="0"/>
          </a:p>
          <a:p>
            <a:pPr marL="0" indent="0" algn="l">
              <a:buNone/>
            </a:pPr>
            <a:r>
              <a:rPr lang="en-US" sz="121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 assets/</a:t>
            </a:r>
            <a:endParaRPr lang="en-US" sz="1210" dirty="0"/>
          </a:p>
        </p:txBody>
      </p:sp>
      <p:sp>
        <p:nvSpPr>
          <p:cNvPr id="10" name="Shape 8"/>
          <p:cNvSpPr/>
          <p:nvPr/>
        </p:nvSpPr>
        <p:spPr>
          <a:xfrm>
            <a:off x="4160520" y="1389888"/>
            <a:ext cx="3063240" cy="1078992"/>
          </a:xfrm>
          <a:prstGeom prst="roundRect">
            <a:avLst>
              <a:gd name="adj" fmla="val 5932"/>
            </a:avLst>
          </a:prstGeom>
          <a:solidFill>
            <a:srgbClr val="F1EDFF"/>
          </a:solidFill>
          <a:ln w="12700">
            <a:solidFill>
              <a:srgbClr val="CFC5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325112" y="1508760"/>
            <a:ext cx="2734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4325112" y="1746504"/>
            <a:ext cx="2734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Содержит &lt;div id="root"&gt; и подключает main.tsx как модуль.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498080" y="1389888"/>
            <a:ext cx="3063240" cy="1078992"/>
          </a:xfrm>
          <a:prstGeom prst="roundRect">
            <a:avLst>
              <a:gd name="adj" fmla="val 5932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662672" y="1508760"/>
            <a:ext cx="2734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MAIN.TSX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7662672" y="1746504"/>
            <a:ext cx="2734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Создаёт React root и запускает первый render.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160520" y="2779776"/>
            <a:ext cx="3063240" cy="1078992"/>
          </a:xfrm>
          <a:prstGeom prst="roundRect">
            <a:avLst>
              <a:gd name="adj" fmla="val 5932"/>
            </a:avLst>
          </a:prstGeom>
          <a:solidFill>
            <a:srgbClr val="E8F7FA"/>
          </a:solidFill>
          <a:ln w="12700">
            <a:solidFill>
              <a:srgbClr val="A7DEE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325112" y="2898648"/>
            <a:ext cx="2734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APP.TSX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4325112" y="3136392"/>
            <a:ext cx="2734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Корневой компонент учебного приложения.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498080" y="2779776"/>
            <a:ext cx="3063240" cy="1078992"/>
          </a:xfrm>
          <a:prstGeom prst="roundRect">
            <a:avLst>
              <a:gd name="adj" fmla="val 5932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662672" y="2898648"/>
            <a:ext cx="2734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*.CSS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7662672" y="3136392"/>
            <a:ext cx="2734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Обычный CSS импортируется из JavaScript-модуля через Vite.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4160520" y="4169664"/>
            <a:ext cx="3063240" cy="1078992"/>
          </a:xfrm>
          <a:prstGeom prst="roundRect">
            <a:avLst>
              <a:gd name="adj" fmla="val 5932"/>
            </a:avLst>
          </a:prstGeom>
          <a:solidFill>
            <a:srgbClr val="FFF1EB"/>
          </a:solidFill>
          <a:ln w="12700">
            <a:solidFill>
              <a:srgbClr val="FFC5B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325112" y="4288536"/>
            <a:ext cx="2734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PACKAGE.JSON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4325112" y="4526280"/>
            <a:ext cx="2734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Команды dev/build и список зависимостей.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6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 ПРОЕКТА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0744200" y="256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33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85216" y="585216"/>
            <a:ext cx="11018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createRoot связывает React с конкретным DOM-узлом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85216" y="1042416"/>
            <a:ext cx="11018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30480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8368" y="1353312"/>
            <a:ext cx="5577840" cy="4846320"/>
          </a:xfrm>
          <a:prstGeom prst="roundRect">
            <a:avLst>
              <a:gd name="adj" fmla="val 1509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463040"/>
            <a:ext cx="5248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src/main.tsx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822960" y="1700784"/>
            <a:ext cx="5248656" cy="437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StrictMode } from 'react';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createRoot } from 'react-dom/client';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App } from './App';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'./index.css';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container = document.getElementById('root');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(!container) {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throw new Error('Root element not found');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createRoot(container).render(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&lt;StrictMode&gt;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&lt;App /&gt;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&lt;/StrictMode&gt;,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90" dirty="0"/>
          </a:p>
        </p:txBody>
      </p:sp>
      <p:sp>
        <p:nvSpPr>
          <p:cNvPr id="10" name="Text 8"/>
          <p:cNvSpPr/>
          <p:nvPr/>
        </p:nvSpPr>
        <p:spPr>
          <a:xfrm>
            <a:off x="6812280" y="1417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Начальный render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12280" y="1956816"/>
            <a:ext cx="310896" cy="310896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12280" y="1956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251192" y="1920240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Найти контейнер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7251192" y="2176272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Обычный DOM API возвращает элемент #root.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812280" y="2889504"/>
            <a:ext cx="310896" cy="310896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812280" y="28895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251192" y="2852928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 root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7251192" y="3108960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получает область DOM, которой будет управлять.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812280" y="3822192"/>
            <a:ext cx="310896" cy="310896"/>
          </a:xfrm>
          <a:prstGeom prst="ellipse">
            <a:avLst/>
          </a:prstGeom>
          <a:solidFill>
            <a:srgbClr val="16A36B"/>
          </a:solidFill>
          <a:ln w="12700">
            <a:solidFill>
              <a:srgbClr val="16A36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12280" y="3822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251192" y="3785616"/>
            <a:ext cx="3858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Передать &lt;App /&gt;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7251192" y="4041648"/>
            <a:ext cx="3858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начинает вычислять дерево компонентов.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812280" y="4983480"/>
            <a:ext cx="4297680" cy="960120"/>
          </a:xfrm>
          <a:prstGeom prst="roundRect">
            <a:avLst>
              <a:gd name="adj" fmla="val 6667"/>
            </a:avLst>
          </a:prstGeom>
          <a:solidFill>
            <a:srgbClr val="FFF1EB"/>
          </a:solidFill>
          <a:ln w="12700">
            <a:solidFill>
              <a:srgbClr val="FFC5B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976872" y="5102352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MODE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6976872" y="5340096"/>
            <a:ext cx="3968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проверки в development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6976872" y="5623560"/>
            <a:ext cx="39684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89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Помогает находить нечистый render и случайные мутации. Не является визуальным компонентом.</a:t>
            </a:r>
            <a:endParaRPr lang="en-US" sz="8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60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КОМПОНЕНТЫ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0744200" y="256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33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85216" y="585216"/>
            <a:ext cx="11018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компонент — функция, которая возвращает JSX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85216" y="1042416"/>
            <a:ext cx="11018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30480">
            <a:solidFill>
              <a:srgbClr val="0796A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8368" y="1399032"/>
            <a:ext cx="5212080" cy="4069080"/>
          </a:xfrm>
          <a:prstGeom prst="roundRect">
            <a:avLst>
              <a:gd name="adj" fmla="val 1798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508760"/>
            <a:ext cx="4882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Welcome.tsx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822960" y="1746504"/>
            <a:ext cx="4882896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Welcome() {</a:t>
            </a:r>
            <a:endParaRPr lang="en-US" sz="12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name = 'Ада';</a:t>
            </a:r>
            <a:endParaRPr lang="en-US" sz="1220" dirty="0"/>
          </a:p>
          <a:p>
            <a:pPr marL="0" indent="0" algn="l">
              <a:lnSpc>
                <a:spcPct val="100000"/>
              </a:lnSpc>
              <a:buNone/>
            </a:pPr>
            <a:endParaRPr lang="en-US" sz="12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&lt;section className="welcome"&gt;</a:t>
            </a:r>
            <a:endParaRPr lang="en-US" sz="12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&lt;h1&gt;Привет, {name}!&lt;/h1&gt;</a:t>
            </a:r>
            <a:endParaRPr lang="en-US" sz="12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&lt;p&gt;Начинаем изучать React.&lt;/p&gt;</a:t>
            </a:r>
            <a:endParaRPr lang="en-US" sz="12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&lt;/section&gt;</a:t>
            </a:r>
            <a:endParaRPr lang="en-US" sz="12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6446520" y="1481328"/>
            <a:ext cx="4937760" cy="987552"/>
          </a:xfrm>
          <a:prstGeom prst="roundRect">
            <a:avLst>
              <a:gd name="adj" fmla="val 6481"/>
            </a:avLst>
          </a:prstGeom>
          <a:solidFill>
            <a:srgbClr val="E8F7FA"/>
          </a:solidFill>
          <a:ln w="12700">
            <a:solidFill>
              <a:srgbClr val="A7DEE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11112" y="1600200"/>
            <a:ext cx="4608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ИМЯ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6611112" y="1837944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заглавной буквы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611112" y="2139696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&lt;Welcome /&gt; — компонент; &lt;section&gt; — встроенный DOM-элемент.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446520" y="2724912"/>
            <a:ext cx="4937760" cy="987552"/>
          </a:xfrm>
          <a:prstGeom prst="roundRect">
            <a:avLst>
              <a:gd name="adj" fmla="val 6481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11112" y="2843784"/>
            <a:ext cx="4608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ВЫЗОВ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6611112" y="3081528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вызывает компонент сам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611112" y="3383280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пишем Welcome(). Используем JSX: &lt;Welcome /&gt;.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6446520" y="3968496"/>
            <a:ext cx="4937760" cy="987552"/>
          </a:xfrm>
          <a:prstGeom prst="roundRect">
            <a:avLst>
              <a:gd name="adj" fmla="val 6481"/>
            </a:avLst>
          </a:prstGeom>
          <a:solidFill>
            <a:srgbClr val="F1EDFF"/>
          </a:solidFill>
          <a:ln w="12700">
            <a:solidFill>
              <a:srgbClr val="CFC5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611112" y="4087368"/>
            <a:ext cx="4608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6611112" y="4325112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Описание, а не готовый DOM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611112" y="4626864"/>
            <a:ext cx="4608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Функция возвращает React-элементы; DOM будет создан позже на commit.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6446520" y="53492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 может быть маленькой кнопкой или целой страницей.</a:t>
            </a:r>
            <a:endParaRPr lang="en-US" sz="11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60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КОМПОНЕНТЫ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0744200" y="256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33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85216" y="585216"/>
            <a:ext cx="11018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Композиция превращает интерфейс в дерево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85216" y="1042416"/>
            <a:ext cx="11018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30480">
            <a:solidFill>
              <a:srgbClr val="0796A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983480" y="1325880"/>
            <a:ext cx="2194560" cy="621792"/>
          </a:xfrm>
          <a:prstGeom prst="roundRect">
            <a:avLst>
              <a:gd name="adj" fmla="val 10294"/>
            </a:avLst>
          </a:prstGeom>
          <a:solidFill>
            <a:srgbClr val="F1EDFF"/>
          </a:solidFill>
          <a:ln w="12700">
            <a:solidFill>
              <a:srgbClr val="CFC5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148072" y="1490472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&lt;App /&gt;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80760" y="1956816"/>
            <a:ext cx="0" cy="557784"/>
          </a:xfrm>
          <a:prstGeom prst="line">
            <a:avLst/>
          </a:prstGeom>
          <a:noFill/>
          <a:ln w="17780">
            <a:solidFill>
              <a:srgbClr val="7C4DF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80760" y="1956816"/>
            <a:ext cx="0" cy="557784"/>
          </a:xfrm>
          <a:prstGeom prst="line">
            <a:avLst/>
          </a:prstGeom>
          <a:noFill/>
          <a:ln w="17780">
            <a:solidFill>
              <a:srgbClr val="7C4DF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 flipH="1">
            <a:off x="3273552" y="1956816"/>
            <a:ext cx="2807208" cy="539495"/>
          </a:xfrm>
          <a:prstGeom prst="line">
            <a:avLst/>
          </a:prstGeom>
          <a:noFill/>
          <a:ln w="17780">
            <a:solidFill>
              <a:srgbClr val="7C4DF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554480" y="2514600"/>
            <a:ext cx="2468880" cy="658368"/>
          </a:xfrm>
          <a:prstGeom prst="roundRect">
            <a:avLst>
              <a:gd name="adj" fmla="val 9722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719072" y="2679192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&lt;Header /&gt;</a:t>
            </a:r>
            <a:endParaRPr lang="en-US" sz="1270" dirty="0"/>
          </a:p>
        </p:txBody>
      </p:sp>
      <p:sp>
        <p:nvSpPr>
          <p:cNvPr id="14" name="Shape 12"/>
          <p:cNvSpPr/>
          <p:nvPr/>
        </p:nvSpPr>
        <p:spPr>
          <a:xfrm>
            <a:off x="4846320" y="2514600"/>
            <a:ext cx="2468880" cy="658368"/>
          </a:xfrm>
          <a:prstGeom prst="roundRect">
            <a:avLst>
              <a:gd name="adj" fmla="val 9722"/>
            </a:avLst>
          </a:prstGeom>
          <a:solidFill>
            <a:srgbClr val="E8F7FA"/>
          </a:solidFill>
          <a:ln w="12700">
            <a:solidFill>
              <a:srgbClr val="A7DEE5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10912" y="2679192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&lt;ProductList /&gt;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8138160" y="2514600"/>
            <a:ext cx="2468880" cy="658368"/>
          </a:xfrm>
          <a:prstGeom prst="roundRect">
            <a:avLst>
              <a:gd name="adj" fmla="val 9722"/>
            </a:avLst>
          </a:prstGeom>
          <a:solidFill>
            <a:srgbClr val="FFF1EB"/>
          </a:solidFill>
          <a:ln w="12700">
            <a:solidFill>
              <a:srgbClr val="FFC5B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302752" y="2679192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&lt;Cart /&gt;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 flipH="1">
            <a:off x="4983480" y="3191256"/>
            <a:ext cx="1097280" cy="585215"/>
          </a:xfrm>
          <a:prstGeom prst="line">
            <a:avLst/>
          </a:prstGeom>
          <a:noFill/>
          <a:ln w="16510">
            <a:solidFill>
              <a:srgbClr val="0796A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080760" y="3191256"/>
            <a:ext cx="1325880" cy="630936"/>
          </a:xfrm>
          <a:prstGeom prst="line">
            <a:avLst/>
          </a:prstGeom>
          <a:noFill/>
          <a:ln w="16510">
            <a:solidFill>
              <a:srgbClr val="0796A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584448" y="3822192"/>
            <a:ext cx="2331720" cy="658368"/>
          </a:xfrm>
          <a:prstGeom prst="roundRect">
            <a:avLst>
              <a:gd name="adj" fmla="val 9722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749040" y="3986784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&lt;ProductCard /&gt;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45352" y="3822192"/>
            <a:ext cx="2331720" cy="658368"/>
          </a:xfrm>
          <a:prstGeom prst="roundRect">
            <a:avLst>
              <a:gd name="adj" fmla="val 9722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9944" y="3986784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&lt;ProductCard /&gt;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54880" y="4498848"/>
            <a:ext cx="0" cy="603504"/>
          </a:xfrm>
          <a:prstGeom prst="line">
            <a:avLst/>
          </a:prstGeom>
          <a:noFill/>
          <a:ln w="15240">
            <a:solidFill>
              <a:srgbClr val="16A3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754880" y="4498848"/>
            <a:ext cx="1161288" cy="557783"/>
          </a:xfrm>
          <a:prstGeom prst="line">
            <a:avLst/>
          </a:prstGeom>
          <a:noFill/>
          <a:ln w="15240">
            <a:solidFill>
              <a:srgbClr val="16A3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108960" y="5102352"/>
            <a:ext cx="2194560" cy="585216"/>
          </a:xfrm>
          <a:prstGeom prst="roundRect">
            <a:avLst>
              <a:gd name="adj" fmla="val 10938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273552" y="5266944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&lt;Price /&gt;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394960" y="5102352"/>
            <a:ext cx="2194560" cy="585216"/>
          </a:xfrm>
          <a:prstGeom prst="roundRect">
            <a:avLst>
              <a:gd name="adj" fmla="val 10938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559552" y="5266944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&lt;BuyButton /&gt;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2011680" y="5989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Компонентное дерево похоже на DOM, но это разные структуры.</a:t>
            </a:r>
            <a:endParaRPr lang="en-US" sz="1180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6233C732-D340-520C-B2E7-7C654BB45FA8}"/>
              </a:ext>
            </a:extLst>
          </p:cNvPr>
          <p:cNvSpPr/>
          <p:nvPr/>
        </p:nvSpPr>
        <p:spPr>
          <a:xfrm>
            <a:off x="6080759" y="1961387"/>
            <a:ext cx="2570869" cy="525775"/>
          </a:xfrm>
          <a:prstGeom prst="line">
            <a:avLst/>
          </a:prstGeom>
          <a:noFill/>
          <a:ln w="17780">
            <a:solidFill>
              <a:srgbClr val="7C4DFF"/>
            </a:solidFill>
            <a:prstDash val="solid"/>
            <a:tailEnd type="triangle"/>
          </a:ln>
        </p:spPr>
        <p:txBody>
          <a:bodyPr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6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0744200" y="256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33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85216" y="585216"/>
            <a:ext cx="11018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 — синтаксическое расширение JavaScript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85216" y="1042416"/>
            <a:ext cx="11018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30480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13232" y="1508760"/>
            <a:ext cx="3840480" cy="2286000"/>
          </a:xfrm>
          <a:prstGeom prst="roundRect">
            <a:avLst>
              <a:gd name="adj" fmla="val 3200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77824" y="161848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преобразования · TSX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877824" y="1856232"/>
            <a:ext cx="351129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element = (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className="buy"&gt;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Купить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&lt;/button&gt;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2587752"/>
            <a:ext cx="1033272" cy="0"/>
          </a:xfrm>
          <a:prstGeom prst="line">
            <a:avLst/>
          </a:prstGeom>
          <a:noFill/>
          <a:ln w="25400">
            <a:solidFill>
              <a:srgbClr val="2F6FE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736592" y="214884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 w="10160">
            <a:solidFill>
              <a:srgbClr val="B9CE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736592" y="215798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toolchain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870448" y="150876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035040" y="1618488"/>
            <a:ext cx="5020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упрощённый результат · JS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035040" y="1856232"/>
            <a:ext cx="502005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jsx as _jsx }</a:t>
            </a:r>
            <a:endParaRPr lang="en-US" sz="11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'react/jsx-runtime';</a:t>
            </a:r>
            <a:endParaRPr lang="en-US" sz="1160" dirty="0"/>
          </a:p>
          <a:p>
            <a:pPr marL="0" indent="0" algn="l">
              <a:lnSpc>
                <a:spcPct val="100000"/>
              </a:lnSpc>
              <a:buNone/>
            </a:pPr>
            <a:endParaRPr lang="en-US" sz="11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element = _jsx('button', {</a:t>
            </a:r>
            <a:endParaRPr lang="en-US" sz="11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className: 'buy',</a:t>
            </a:r>
            <a:endParaRPr lang="en-US" sz="11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children: 'Купить',</a:t>
            </a:r>
            <a:endParaRPr lang="en-US" sz="11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60" dirty="0"/>
          </a:p>
        </p:txBody>
      </p:sp>
      <p:sp>
        <p:nvSpPr>
          <p:cNvPr id="16" name="Shape 14"/>
          <p:cNvSpPr/>
          <p:nvPr/>
        </p:nvSpPr>
        <p:spPr>
          <a:xfrm>
            <a:off x="713232" y="4315968"/>
            <a:ext cx="3383280" cy="1143000"/>
          </a:xfrm>
          <a:prstGeom prst="roundRect">
            <a:avLst>
              <a:gd name="adj" fmla="val 5600"/>
            </a:avLst>
          </a:prstGeom>
          <a:solidFill>
            <a:srgbClr val="F1EDFF"/>
          </a:solidFill>
          <a:ln w="12700">
            <a:solidFill>
              <a:srgbClr val="CFC5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77824" y="4434840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СТРОКА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877824" y="467258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 создаёт JavaScript-значения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877824" y="5029200"/>
            <a:ext cx="3054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Их можно сохранять в переменных, передавать и возвращать.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407408" y="4315968"/>
            <a:ext cx="3383280" cy="1143000"/>
          </a:xfrm>
          <a:prstGeom prst="roundRect">
            <a:avLst>
              <a:gd name="adj" fmla="val 5600"/>
            </a:avLst>
          </a:prstGeom>
          <a:solidFill>
            <a:srgbClr val="E8F7FA"/>
          </a:solidFill>
          <a:ln w="12700">
            <a:solidFill>
              <a:srgbClr val="A7DEE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0" y="4434840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ОПЦИОНАЛЬНО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4572000" y="467258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может работать без JSX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4572000" y="5029200"/>
            <a:ext cx="3054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 JSX делает структуру UI компактной и читаемой.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101584" y="4315968"/>
            <a:ext cx="3383280" cy="1143000"/>
          </a:xfrm>
          <a:prstGeom prst="roundRect">
            <a:avLst>
              <a:gd name="adj" fmla="val 5600"/>
            </a:avLst>
          </a:prstGeom>
          <a:solidFill>
            <a:srgbClr val="FFF1EB"/>
          </a:solidFill>
          <a:ln w="12700">
            <a:solidFill>
              <a:srgbClr val="FFC5B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266176" y="4434840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8266176" y="467258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исполняет JSX напрямую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8266176" y="5029200"/>
            <a:ext cx="3054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 преобразует TSX/JSX в обычный JavaScript.</a:t>
            </a:r>
            <a:endParaRPr lang="en-US" sz="9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6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0744200" y="256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33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85216" y="585216"/>
            <a:ext cx="11018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 похож на HTML, но правила строже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85216" y="1042416"/>
            <a:ext cx="11018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30480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13232" y="1371600"/>
            <a:ext cx="5193792" cy="1170432"/>
          </a:xfrm>
          <a:prstGeom prst="roundRect">
            <a:avLst>
              <a:gd name="adj" fmla="val 5469"/>
            </a:avLst>
          </a:prstGeom>
          <a:solidFill>
            <a:srgbClr val="F1EDFF"/>
          </a:solidFill>
          <a:ln w="12700">
            <a:solidFill>
              <a:srgbClr val="CFC5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77824" y="1490472"/>
            <a:ext cx="4864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877824" y="1728216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корневой узел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77824" y="2121408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&lt;&gt;...&lt;/&gt; или общий контейнер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193792" cy="1170432"/>
          </a:xfrm>
          <a:prstGeom prst="roundRect">
            <a:avLst>
              <a:gd name="adj" fmla="val 5469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1490472"/>
            <a:ext cx="4864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6382512" y="1728216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теги закрыты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82512" y="2121408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&lt;img /&gt; · &lt;br /&gt; · &lt;input /&gt;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13232" y="2788920"/>
            <a:ext cx="5193792" cy="1170432"/>
          </a:xfrm>
          <a:prstGeom prst="roundRect">
            <a:avLst>
              <a:gd name="adj" fmla="val 5469"/>
            </a:avLst>
          </a:prstGeom>
          <a:solidFill>
            <a:srgbClr val="E8F7FA"/>
          </a:solidFill>
          <a:ln w="12700">
            <a:solidFill>
              <a:srgbClr val="A7DEE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77824" y="2907792"/>
            <a:ext cx="4864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877824" y="3145536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Имена свойств camelCase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7824" y="3538728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className · htmlFor · onClick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217920" y="2788920"/>
            <a:ext cx="5193792" cy="1170432"/>
          </a:xfrm>
          <a:prstGeom prst="roundRect">
            <a:avLst>
              <a:gd name="adj" fmla="val 5469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82512" y="2907792"/>
            <a:ext cx="4864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6382512" y="3145536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JS-выражения в { }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82512" y="3538728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значения, вызовы, тернарный оператор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2286000" y="4526280"/>
            <a:ext cx="7589520" cy="1298448"/>
          </a:xfrm>
          <a:prstGeom prst="roundRect">
            <a:avLst>
              <a:gd name="adj" fmla="val 5926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450592" y="4636008"/>
            <a:ext cx="7260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корректный JSX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2450592" y="4873752"/>
            <a:ext cx="72603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(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&lt;&gt;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&lt;label htmlFor="email"&gt;Email&lt;/label&gt;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&lt;input id="email" className="field" /&gt;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&lt;/&gt;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6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0744200" y="256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33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85216" y="585216"/>
            <a:ext cx="11018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Фигурные скобки возвращают нас в JavaScript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85216" y="1042416"/>
            <a:ext cx="11018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30480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8368" y="1353312"/>
            <a:ext cx="5806440" cy="4892040"/>
          </a:xfrm>
          <a:prstGeom prst="roundRect">
            <a:avLst>
              <a:gd name="adj" fmla="val 1495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463040"/>
            <a:ext cx="5477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Profile.tsx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822960" y="1700784"/>
            <a:ext cx="5477256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User = {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string;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avatarUrl: string;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score: number;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Profile({ user }: { user: User }) {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level = user.score &gt; 100 ? 'pro' : 'new';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&lt;article data-level={level}&gt;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&lt;img src={user.avatarUrl} alt={user.name} /&gt;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&lt;h2&gt;{user.name}&lt;/h2&gt;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&lt;p&gt;Баллы: {user.score.toLocaleString('ru-RU')}&lt;/p&gt;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&lt;/article&gt;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70" dirty="0"/>
          </a:p>
        </p:txBody>
      </p:sp>
      <p:sp>
        <p:nvSpPr>
          <p:cNvPr id="10" name="Text 8"/>
          <p:cNvSpPr/>
          <p:nvPr/>
        </p:nvSpPr>
        <p:spPr>
          <a:xfrm>
            <a:off x="6903720" y="1463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Внутри { } допустимы выражения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903720" y="196596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ECFDF3"/>
          </a:solidFill>
          <a:ln w="1016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903720" y="19751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переменная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098280" y="196596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ECFDF3"/>
          </a:solidFill>
          <a:ln w="1016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098280" y="19751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к свойству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903720" y="2496312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ECFDF3"/>
          </a:solidFill>
          <a:ln w="1016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903720" y="250545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вызов функции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098280" y="2496312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ECFDF3"/>
          </a:solidFill>
          <a:ln w="1016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098280" y="250545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тернарный оператор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903720" y="3026664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ECFDF3"/>
          </a:solidFill>
          <a:ln w="1016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903720" y="303580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/ filter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098280" y="3026664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ECFDF3"/>
          </a:solidFill>
          <a:ln w="1016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098280" y="303580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готовый JSX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903720" y="37947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Нельзя вставить statement напрямую</a:t>
            </a:r>
            <a:endParaRPr lang="en-US" sz="1380" dirty="0"/>
          </a:p>
        </p:txBody>
      </p:sp>
      <p:sp>
        <p:nvSpPr>
          <p:cNvPr id="24" name="Shape 22"/>
          <p:cNvSpPr/>
          <p:nvPr/>
        </p:nvSpPr>
        <p:spPr>
          <a:xfrm>
            <a:off x="6903720" y="425196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FEF3F2"/>
          </a:solidFill>
          <a:ln w="10160">
            <a:solidFill>
              <a:srgbClr val="F7B4AE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903720" y="42611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098280" y="425196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FEF3F2"/>
          </a:solidFill>
          <a:ln w="10160">
            <a:solidFill>
              <a:srgbClr val="F7B4AE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098280" y="42611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903720" y="4782312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FEF3F2"/>
          </a:solidFill>
          <a:ln w="10160">
            <a:solidFill>
              <a:srgbClr val="F7B4AE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903720" y="479145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098280" y="4782312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FEF3F2"/>
          </a:solidFill>
          <a:ln w="10160">
            <a:solidFill>
              <a:srgbClr val="F7B4AE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098280" y="479145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объявление function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903720" y="54864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Подготовьте значение до return или используйте выражение.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6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0744200" y="256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33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85216" y="585216"/>
            <a:ext cx="11018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Атрибуты, className и style получают JavaScript-значения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85216" y="1042416"/>
            <a:ext cx="11018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30480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8368" y="1389888"/>
            <a:ext cx="5715000" cy="4480560"/>
          </a:xfrm>
          <a:prstGeom prst="roundRect">
            <a:avLst>
              <a:gd name="adj" fmla="val 1633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499616"/>
            <a:ext cx="5385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Progress.tsx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822960" y="1737360"/>
            <a:ext cx="5385816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Progress({ value }: { value: number }) {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status = value &gt;= 100 ? 'done' : 'active';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className={`progress progress--${status}`}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aria-valuenow={value}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style={{ '--value': value } as React.CSSProperties}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&gt;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{value}%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90" dirty="0"/>
          </a:p>
        </p:txBody>
      </p:sp>
      <p:sp>
        <p:nvSpPr>
          <p:cNvPr id="10" name="Shape 8"/>
          <p:cNvSpPr/>
          <p:nvPr/>
        </p:nvSpPr>
        <p:spPr>
          <a:xfrm>
            <a:off x="6784848" y="1508760"/>
            <a:ext cx="4526280" cy="1024128"/>
          </a:xfrm>
          <a:prstGeom prst="roundRect">
            <a:avLst>
              <a:gd name="adj" fmla="val 6250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949440" y="1627632"/>
            <a:ext cx="4197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СТРОКА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6949440" y="1865376"/>
            <a:ext cx="4197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className="card"</a:t>
            </a:r>
            <a:endParaRPr lang="en-US" sz="1360" dirty="0"/>
          </a:p>
        </p:txBody>
      </p:sp>
      <p:sp>
        <p:nvSpPr>
          <p:cNvPr id="13" name="Text 11"/>
          <p:cNvSpPr/>
          <p:nvPr/>
        </p:nvSpPr>
        <p:spPr>
          <a:xfrm>
            <a:off x="6949440" y="2203704"/>
            <a:ext cx="4197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Кавычки передают обычную строку.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6784848" y="2761488"/>
            <a:ext cx="4526280" cy="1024128"/>
          </a:xfrm>
          <a:prstGeom prst="roundRect">
            <a:avLst>
              <a:gd name="adj" fmla="val 6250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949440" y="2880360"/>
            <a:ext cx="4197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ВЫРАЖЕНИЕ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6949440" y="3118104"/>
            <a:ext cx="4197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src={user.avatarUrl}</a:t>
            </a:r>
            <a:endParaRPr lang="en-US" sz="1360" dirty="0"/>
          </a:p>
        </p:txBody>
      </p:sp>
      <p:sp>
        <p:nvSpPr>
          <p:cNvPr id="17" name="Text 15"/>
          <p:cNvSpPr/>
          <p:nvPr/>
        </p:nvSpPr>
        <p:spPr>
          <a:xfrm>
            <a:off x="6949440" y="3456432"/>
            <a:ext cx="4197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Скобки вычисляют JavaScript-значение.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6784848" y="4014216"/>
            <a:ext cx="4526280" cy="1024128"/>
          </a:xfrm>
          <a:prstGeom prst="roundRect">
            <a:avLst>
              <a:gd name="adj" fmla="val 6250"/>
            </a:avLst>
          </a:prstGeom>
          <a:solidFill>
            <a:srgbClr val="FFF1EB"/>
          </a:solidFill>
          <a:ln w="12700">
            <a:solidFill>
              <a:srgbClr val="FFC5B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949440" y="4133088"/>
            <a:ext cx="4197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6949440" y="4370832"/>
            <a:ext cx="4197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Объект, а не CSS-строка</a:t>
            </a:r>
            <a:endParaRPr lang="en-US" sz="1360" dirty="0"/>
          </a:p>
        </p:txBody>
      </p:sp>
      <p:sp>
        <p:nvSpPr>
          <p:cNvPr id="21" name="Text 19"/>
          <p:cNvSpPr/>
          <p:nvPr/>
        </p:nvSpPr>
        <p:spPr>
          <a:xfrm>
            <a:off x="6949440" y="4709160"/>
            <a:ext cx="4197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Свойства camelCase; используйте для действительно динамических значений.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6858000" y="54498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Основной styling-путь курса: классы + обычный CSS.</a:t>
            </a:r>
            <a:endParaRPr lang="en-US" sz="11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6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0744200" y="256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33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85216" y="585216"/>
            <a:ext cx="11018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Условный рендеринг использует обычный JavaScript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85216" y="1042416"/>
            <a:ext cx="11018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30480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8368" y="1371600"/>
            <a:ext cx="5623560" cy="4736592"/>
          </a:xfrm>
          <a:prstGeom prst="roundRect">
            <a:avLst>
              <a:gd name="adj" fmla="val 1544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481328"/>
            <a:ext cx="5294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Status.tsx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822960" y="1719072"/>
            <a:ext cx="5294376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Status({</a:t>
            </a:r>
            <a:endParaRPr lang="en-US" sz="10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loading,</a:t>
            </a:r>
            <a:endParaRPr lang="en-US" sz="10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error,</a:t>
            </a:r>
            <a:endParaRPr lang="en-US" sz="10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products,</a:t>
            </a:r>
            <a:endParaRPr lang="en-US" sz="10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}: Props) {</a:t>
            </a:r>
            <a:endParaRPr lang="en-US" sz="10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(loading) return &lt;Spinner /&gt;;</a:t>
            </a:r>
            <a:endParaRPr lang="en-US" sz="10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(error) return &lt;ErrorMessage text={error} /&gt;;</a:t>
            </a:r>
            <a:endParaRPr lang="en-US" sz="10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(products.length === 0) return &lt;Empty /&gt;;</a:t>
            </a:r>
            <a:endParaRPr lang="en-US" sz="1060" dirty="0"/>
          </a:p>
          <a:p>
            <a:pPr marL="0" indent="0" algn="l">
              <a:lnSpc>
                <a:spcPct val="100000"/>
              </a:lnSpc>
              <a:buNone/>
            </a:pPr>
            <a:endParaRPr lang="en-US" sz="10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</a:t>
            </a:r>
            <a:endParaRPr lang="en-US" sz="10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&lt;h2&gt;Товары&lt;/h2&gt;</a:t>
            </a:r>
            <a:endParaRPr lang="en-US" sz="10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{isAdmin &amp;&amp; &lt;AdminTools /&gt;}</a:t>
            </a:r>
            <a:endParaRPr lang="en-US" sz="10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&lt;ProductList products={products} /&gt;</a:t>
            </a:r>
            <a:endParaRPr lang="en-US" sz="10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&lt;/&gt;</a:t>
            </a:r>
            <a:endParaRPr lang="en-US" sz="10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6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6720840" y="1417320"/>
            <a:ext cx="4617720" cy="841248"/>
          </a:xfrm>
          <a:prstGeom prst="roundRect">
            <a:avLst>
              <a:gd name="adj" fmla="val 7609"/>
            </a:avLst>
          </a:prstGeom>
          <a:solidFill>
            <a:srgbClr val="F1EDFF"/>
          </a:solidFill>
          <a:ln w="12700">
            <a:solidFill>
              <a:srgbClr val="CFC5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85432" y="1536192"/>
            <a:ext cx="4288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+ EARLY RETURN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6885432" y="1773936"/>
            <a:ext cx="4288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крупных взаимоисключающих веток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6720840" y="2468880"/>
            <a:ext cx="4617720" cy="841248"/>
          </a:xfrm>
          <a:prstGeom prst="roundRect">
            <a:avLst>
              <a:gd name="adj" fmla="val 7609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885432" y="2587752"/>
            <a:ext cx="4288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? A : B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6885432" y="2825496"/>
            <a:ext cx="4288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нужен один из двух фрагментов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720840" y="3520440"/>
            <a:ext cx="4617720" cy="841248"/>
          </a:xfrm>
          <a:prstGeom prst="roundRect">
            <a:avLst>
              <a:gd name="adj" fmla="val 7609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885432" y="3639312"/>
            <a:ext cx="4288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&amp;&amp; A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6885432" y="3877056"/>
            <a:ext cx="4288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Показать или ничего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720840" y="4572000"/>
            <a:ext cx="4617720" cy="841248"/>
          </a:xfrm>
          <a:prstGeom prst="roundRect">
            <a:avLst>
              <a:gd name="adj" fmla="val 7609"/>
            </a:avLst>
          </a:prstGeom>
          <a:solidFill>
            <a:srgbClr val="FFF1EB"/>
          </a:solidFill>
          <a:ln w="12700">
            <a:solidFill>
              <a:srgbClr val="FFC5B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85432" y="4690872"/>
            <a:ext cx="4288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NULL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6885432" y="4928616"/>
            <a:ext cx="4288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 сознательно ничего не отображает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6784848" y="571500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Состояния UI лучше перечислять явно: loading → error → empty → success.</a:t>
            </a:r>
            <a:endParaRPr lang="en-US" sz="10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6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0744200" y="256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33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85216" y="585216"/>
            <a:ext cx="11018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Списки строятся </a:t>
            </a:r>
            <a:r>
              <a:rPr lang="en-US" sz="2350" b="1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</a:t>
            </a: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map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85216" y="1042416"/>
            <a:ext cx="11018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30480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8368" y="1371600"/>
            <a:ext cx="5440680" cy="4773168"/>
          </a:xfrm>
          <a:prstGeom prst="roundRect">
            <a:avLst>
              <a:gd name="adj" fmla="val 1533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481328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ProductList.tsx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822960" y="1719072"/>
            <a:ext cx="511149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Product = {</a:t>
            </a:r>
            <a:endParaRPr lang="en-US" sz="10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string;</a:t>
            </a:r>
            <a:endParaRPr lang="en-US" sz="10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string;</a:t>
            </a:r>
            <a:endParaRPr lang="en-US" sz="10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80" dirty="0"/>
          </a:p>
          <a:p>
            <a:pPr marL="0" indent="0" algn="l">
              <a:lnSpc>
                <a:spcPct val="100000"/>
              </a:lnSpc>
              <a:buNone/>
            </a:pPr>
            <a:endParaRPr lang="en-US" sz="10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ProductList({ products }: { products: Product[] }) {</a:t>
            </a:r>
            <a:endParaRPr lang="en-US" sz="10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&lt;ul&gt;</a:t>
            </a:r>
            <a:endParaRPr lang="en-US" sz="10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{products.map(product =&gt; (</a:t>
            </a:r>
            <a:endParaRPr lang="en-US" sz="10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&lt;ProductCard</a:t>
            </a:r>
            <a:endParaRPr lang="en-US" sz="10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key={product.id}</a:t>
            </a:r>
            <a:endParaRPr lang="en-US" sz="10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product={product}</a:t>
            </a:r>
            <a:endParaRPr lang="en-US" sz="10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/&gt;</a:t>
            </a:r>
            <a:endParaRPr lang="en-US" sz="10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))}</a:t>
            </a:r>
            <a:endParaRPr lang="en-US" sz="10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&lt;/ul&gt;</a:t>
            </a:r>
            <a:endParaRPr lang="en-US" sz="10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8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583680" y="148132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1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отвечает на вопрос: «это тот же элемент списка?»</a:t>
            </a:r>
            <a:endParaRPr lang="en-US" sz="1510" dirty="0"/>
          </a:p>
        </p:txBody>
      </p:sp>
      <p:sp>
        <p:nvSpPr>
          <p:cNvPr id="11" name="Shape 9"/>
          <p:cNvSpPr/>
          <p:nvPr/>
        </p:nvSpPr>
        <p:spPr>
          <a:xfrm>
            <a:off x="6583680" y="2075688"/>
            <a:ext cx="2267712" cy="1170432"/>
          </a:xfrm>
          <a:prstGeom prst="roundRect">
            <a:avLst>
              <a:gd name="adj" fmla="val 5469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748272" y="2194560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СТАБИЛЬНЫЙ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6748272" y="2432304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9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Берите id из данных</a:t>
            </a:r>
            <a:endParaRPr lang="en-US" sz="1090" dirty="0"/>
          </a:p>
        </p:txBody>
      </p:sp>
      <p:sp>
        <p:nvSpPr>
          <p:cNvPr id="14" name="Text 12"/>
          <p:cNvSpPr/>
          <p:nvPr/>
        </p:nvSpPr>
        <p:spPr>
          <a:xfrm>
            <a:off x="6748272" y="278892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key={product.id}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9052560" y="2075688"/>
            <a:ext cx="2267712" cy="1170432"/>
          </a:xfrm>
          <a:prstGeom prst="roundRect">
            <a:avLst>
              <a:gd name="adj" fmla="val 5469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217152" y="2194560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ЛОКАЛЬНЫЙ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9217152" y="2432304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9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Уникален среди соседей</a:t>
            </a:r>
            <a:endParaRPr lang="en-US" sz="1090" dirty="0"/>
          </a:p>
        </p:txBody>
      </p:sp>
      <p:sp>
        <p:nvSpPr>
          <p:cNvPr id="18" name="Text 16"/>
          <p:cNvSpPr/>
          <p:nvPr/>
        </p:nvSpPr>
        <p:spPr>
          <a:xfrm>
            <a:off x="9217152" y="278892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обязан быть глобальным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6583680" y="3493008"/>
            <a:ext cx="2267712" cy="1170432"/>
          </a:xfrm>
          <a:prstGeom prst="roundRect">
            <a:avLst>
              <a:gd name="adj" fmla="val 5469"/>
            </a:avLst>
          </a:prstGeom>
          <a:solidFill>
            <a:srgbClr val="F1EDFF"/>
          </a:solidFill>
          <a:ln w="12700">
            <a:solidFill>
              <a:srgbClr val="CFC5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748272" y="3611880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PROP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6748272" y="3849624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9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 не получает key</a:t>
            </a:r>
            <a:endParaRPr lang="en-US" sz="1090" dirty="0"/>
          </a:p>
        </p:txBody>
      </p:sp>
      <p:sp>
        <p:nvSpPr>
          <p:cNvPr id="22" name="Text 20"/>
          <p:cNvSpPr/>
          <p:nvPr/>
        </p:nvSpPr>
        <p:spPr>
          <a:xfrm>
            <a:off x="6748272" y="420624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нужен id — передайте отдельно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9052560" y="3493008"/>
            <a:ext cx="2267712" cy="1170432"/>
          </a:xfrm>
          <a:prstGeom prst="roundRect">
            <a:avLst>
              <a:gd name="adj" fmla="val 5469"/>
            </a:avLst>
          </a:prstGeom>
          <a:solidFill>
            <a:srgbClr val="FFF1EB"/>
          </a:solidFill>
          <a:ln w="12700">
            <a:solidFill>
              <a:srgbClr val="FFC5B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217152" y="3611880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INDEX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9217152" y="3849624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9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Индекс опасен при reorder</a:t>
            </a:r>
            <a:endParaRPr lang="en-US" sz="1090" dirty="0"/>
          </a:p>
        </p:txBody>
      </p:sp>
      <p:sp>
        <p:nvSpPr>
          <p:cNvPr id="26" name="Text 24"/>
          <p:cNvSpPr/>
          <p:nvPr/>
        </p:nvSpPr>
        <p:spPr>
          <a:xfrm>
            <a:off x="9217152" y="420624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7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может «переехать» к другому item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6675120" y="535838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сопоставляет старый и новый список по type + key.</a:t>
            </a:r>
            <a:endParaRPr lang="en-US" sz="11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60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КОМПОНЕНТЫ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0744200" y="256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33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85216" y="585216"/>
            <a:ext cx="11018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Props — входные данные компонента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85216" y="1042416"/>
            <a:ext cx="11018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30480">
            <a:solidFill>
              <a:srgbClr val="0796A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8368" y="1353312"/>
            <a:ext cx="5623560" cy="4956048"/>
          </a:xfrm>
          <a:prstGeom prst="roundRect">
            <a:avLst>
              <a:gd name="adj" fmla="val 1476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463040"/>
            <a:ext cx="5294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Avatar.tsx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822960" y="1700784"/>
            <a:ext cx="5294376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AvatarProps = {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string;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imageUrl: string;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size?: number;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Avatar({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name,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imageUrl,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size = 48,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}: AvatarProps) {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&lt;img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src={imageUrl}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alt={name}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width={size}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height={size}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/&gt;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&lt;Avatar name="Ада" imageUrl="/ada.jpg" size={64} /&gt;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20840" y="1463040"/>
            <a:ext cx="44805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Аналогия: props ≈ параметры функции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6720840" y="1993392"/>
            <a:ext cx="4526280" cy="1005840"/>
          </a:xfrm>
          <a:prstGeom prst="roundRect">
            <a:avLst>
              <a:gd name="adj" fmla="val 6364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885432" y="2112264"/>
            <a:ext cx="4197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РОДИТЕЛЬ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6885432" y="2350008"/>
            <a:ext cx="4197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Передаёт значения в JSX</a:t>
            </a:r>
            <a:endParaRPr lang="en-US" sz="1270" dirty="0"/>
          </a:p>
        </p:txBody>
      </p:sp>
      <p:sp>
        <p:nvSpPr>
          <p:cNvPr id="14" name="Text 12"/>
          <p:cNvSpPr/>
          <p:nvPr/>
        </p:nvSpPr>
        <p:spPr>
          <a:xfrm>
            <a:off x="6885432" y="2679192"/>
            <a:ext cx="41970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Строки — в кавычках, остальные значения — в { }.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720840" y="3246120"/>
            <a:ext cx="4526280" cy="1005840"/>
          </a:xfrm>
          <a:prstGeom prst="roundRect">
            <a:avLst>
              <a:gd name="adj" fmla="val 6364"/>
            </a:avLst>
          </a:prstGeom>
          <a:solidFill>
            <a:srgbClr val="E8F7FA"/>
          </a:solidFill>
          <a:ln w="12700">
            <a:solidFill>
              <a:srgbClr val="A7DEE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885432" y="3364992"/>
            <a:ext cx="4197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6885432" y="3602736"/>
            <a:ext cx="4197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Получает один объект props</a:t>
            </a:r>
            <a:endParaRPr lang="en-US" sz="1270" dirty="0"/>
          </a:p>
        </p:txBody>
      </p:sp>
      <p:sp>
        <p:nvSpPr>
          <p:cNvPr id="18" name="Text 16"/>
          <p:cNvSpPr/>
          <p:nvPr/>
        </p:nvSpPr>
        <p:spPr>
          <a:xfrm>
            <a:off x="6885432" y="3931920"/>
            <a:ext cx="41970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Обычно сразу деструктурируем нужные поля.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720840" y="4498848"/>
            <a:ext cx="4526280" cy="1005840"/>
          </a:xfrm>
          <a:prstGeom prst="roundRect">
            <a:avLst>
              <a:gd name="adj" fmla="val 6364"/>
            </a:avLst>
          </a:prstGeom>
          <a:solidFill>
            <a:srgbClr val="F1EDFF"/>
          </a:solidFill>
          <a:ln w="12700">
            <a:solidFill>
              <a:srgbClr val="CFC5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85432" y="4617720"/>
            <a:ext cx="4197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6885432" y="4855464"/>
            <a:ext cx="4197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Контракт виден до запуска</a:t>
            </a:r>
            <a:endParaRPr lang="en-US" sz="1270" dirty="0"/>
          </a:p>
        </p:txBody>
      </p:sp>
      <p:sp>
        <p:nvSpPr>
          <p:cNvPr id="22" name="Text 20"/>
          <p:cNvSpPr/>
          <p:nvPr/>
        </p:nvSpPr>
        <p:spPr>
          <a:xfrm>
            <a:off x="6885432" y="5184648"/>
            <a:ext cx="41970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Обязательные, необязательные и union-типы проверяются редактором.</a:t>
            </a:r>
            <a:endParaRPr lang="en-US" sz="9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60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КОМПОНЕНТЫ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0744200" y="256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33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85216" y="585216"/>
            <a:ext cx="11018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Props доступны только для чтения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85216" y="1042416"/>
            <a:ext cx="11018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30480">
            <a:solidFill>
              <a:srgbClr val="0796A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8368" y="141732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527048"/>
            <a:ext cx="4928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Price.tsx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822960" y="1764792"/>
            <a:ext cx="4928616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Price({ amount }: { amount: number }) {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amount += 100; // ❌ не меняем входы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formatted = new Intl.NumberFormat('ru-RU', {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style: 'currency',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currency: 'RUB',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}).format(amount);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&lt;span&gt;{formatted}&lt;/span&gt;;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2697480"/>
            <a:ext cx="1005840" cy="0"/>
          </a:xfrm>
          <a:prstGeom prst="line">
            <a:avLst/>
          </a:prstGeom>
          <a:noFill/>
          <a:ln w="22860">
            <a:solidFill>
              <a:srgbClr val="0796A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406640" y="1508760"/>
            <a:ext cx="3886200" cy="987552"/>
          </a:xfrm>
          <a:prstGeom prst="roundRect">
            <a:avLst>
              <a:gd name="adj" fmla="val 6481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571232" y="1627632"/>
            <a:ext cx="3557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7571232" y="1865376"/>
            <a:ext cx="3557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 значения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71232" y="2185416"/>
            <a:ext cx="3557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Хранит данные или получает их выше.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7406640" y="2788920"/>
            <a:ext cx="3886200" cy="987552"/>
          </a:xfrm>
          <a:prstGeom prst="roundRect">
            <a:avLst>
              <a:gd name="adj" fmla="val 6481"/>
            </a:avLst>
          </a:prstGeom>
          <a:solidFill>
            <a:srgbClr val="E8F7FA"/>
          </a:solidFill>
          <a:ln w="12700">
            <a:solidFill>
              <a:srgbClr val="A7DEE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571232" y="2907792"/>
            <a:ext cx="3557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7571232" y="3145536"/>
            <a:ext cx="3557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Преобразует для UI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71232" y="3465576"/>
            <a:ext cx="3557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Может вычислить производное значение, но не меняет props.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822960" y="5266944"/>
            <a:ext cx="10424160" cy="713232"/>
          </a:xfrm>
          <a:prstGeom prst="roundRect">
            <a:avLst>
              <a:gd name="adj" fmla="val 8974"/>
            </a:avLst>
          </a:prstGeom>
          <a:solidFill>
            <a:srgbClr val="FFF1EB"/>
          </a:solidFill>
          <a:ln w="12700">
            <a:solidFill>
              <a:srgbClr val="FFC5B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87552" y="5431536"/>
            <a:ext cx="10094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Нужно изменить данные? Сообщите родителю событием или обновите собственный state.</a:t>
            </a:r>
            <a:endParaRPr lang="en-US" sz="11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60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КОМПОНЕНТЫ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0744200" y="256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33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85216" y="585216"/>
            <a:ext cx="11018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 делает компонент контейнером для другой разметки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85216" y="1042416"/>
            <a:ext cx="11018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30480">
            <a:solidFill>
              <a:srgbClr val="0796A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8368" y="1325880"/>
            <a:ext cx="5669280" cy="5029200"/>
          </a:xfrm>
          <a:prstGeom prst="roundRect">
            <a:avLst>
              <a:gd name="adj" fmla="val 1455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435608"/>
            <a:ext cx="5340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Card.tsx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822960" y="1673352"/>
            <a:ext cx="5340096" cy="4553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type { ReactNode } from 'react';</a:t>
            </a:r>
            <a:endParaRPr lang="en-US" sz="990" dirty="0"/>
          </a:p>
          <a:p>
            <a:pPr marL="0" indent="0" algn="l">
              <a:lnSpc>
                <a:spcPct val="100000"/>
              </a:lnSpc>
              <a:buNone/>
            </a:pPr>
            <a:endParaRPr lang="en-US" sz="9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CardProps = {</a:t>
            </a:r>
            <a:endParaRPr lang="en-US" sz="9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string;</a:t>
            </a:r>
            <a:endParaRPr lang="en-US" sz="9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children: ReactNode;</a:t>
            </a:r>
            <a:endParaRPr lang="en-US" sz="9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90" dirty="0"/>
          </a:p>
          <a:p>
            <a:pPr marL="0" indent="0" algn="l">
              <a:lnSpc>
                <a:spcPct val="100000"/>
              </a:lnSpc>
              <a:buNone/>
            </a:pPr>
            <a:endParaRPr lang="en-US" sz="9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Card({ title, children }: CardProps) {</a:t>
            </a:r>
            <a:endParaRPr lang="en-US" sz="9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9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&lt;section className="card"&gt;</a:t>
            </a:r>
            <a:endParaRPr lang="en-US" sz="9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&lt;h2&gt;{title}&lt;/h2&gt;</a:t>
            </a:r>
            <a:endParaRPr lang="en-US" sz="9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&lt;div className="card__body"&gt;{children}&lt;/div&gt;</a:t>
            </a:r>
            <a:endParaRPr lang="en-US" sz="9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&lt;/section&gt;</a:t>
            </a:r>
            <a:endParaRPr lang="en-US" sz="9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90" dirty="0"/>
          </a:p>
          <a:p>
            <a:pPr marL="0" indent="0" algn="l">
              <a:lnSpc>
                <a:spcPct val="100000"/>
              </a:lnSpc>
              <a:buNone/>
            </a:pPr>
            <a:endParaRPr lang="en-US" sz="9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&lt;Card title="Профиль"&gt;</a:t>
            </a:r>
            <a:endParaRPr lang="en-US" sz="9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&lt;Avatar user={user} /&gt;</a:t>
            </a:r>
            <a:endParaRPr lang="en-US" sz="9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&lt;p&gt;{user.bio}&lt;/p&gt;</a:t>
            </a:r>
            <a:endParaRPr lang="en-US" sz="99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99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&lt;/Card&gt;</a:t>
            </a:r>
            <a:endParaRPr lang="en-US" sz="990" dirty="0"/>
          </a:p>
        </p:txBody>
      </p:sp>
      <p:sp>
        <p:nvSpPr>
          <p:cNvPr id="10" name="Text 8"/>
          <p:cNvSpPr/>
          <p:nvPr/>
        </p:nvSpPr>
        <p:spPr>
          <a:xfrm>
            <a:off x="6720840" y="14447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Композиция вместо жёстко зашитого содержимого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995160" y="2121408"/>
            <a:ext cx="3931920" cy="2331720"/>
          </a:xfrm>
          <a:prstGeom prst="roundRect">
            <a:avLst>
              <a:gd name="adj" fmla="val 2745"/>
            </a:avLst>
          </a:prstGeom>
          <a:solidFill>
            <a:srgbClr val="F8FAFC"/>
          </a:solidFill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60920" y="24871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60920" y="3035808"/>
            <a:ext cx="713232" cy="713232"/>
          </a:xfrm>
          <a:prstGeom prst="ellipse">
            <a:avLst/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60920" y="3182112"/>
            <a:ext cx="713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75320" y="30632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Ада Лавлейс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75320" y="3429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Математик и автор алгоритмов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8366760" y="470916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E8F7FA"/>
          </a:solidFill>
          <a:ln w="10160">
            <a:solidFill>
              <a:srgbClr val="A7DEE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366760" y="471830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children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720840" y="5257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Родитель решает, что вложить; Card решает, как оформить.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60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КОМПОНЕНТЫ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0744200" y="256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33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85216" y="585216"/>
            <a:ext cx="11018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85216" y="1042416"/>
            <a:ext cx="11018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30480">
            <a:solidFill>
              <a:srgbClr val="0796A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8368" y="1417320"/>
            <a:ext cx="4709160" cy="3840480"/>
          </a:xfrm>
          <a:prstGeom prst="roundRect">
            <a:avLst>
              <a:gd name="adj" fmla="val 1905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527048"/>
            <a:ext cx="4379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BuyButton.tsx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822960" y="1764792"/>
            <a:ext cx="4379976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BuyButton() {</a:t>
            </a:r>
            <a:endParaRPr lang="en-US" sz="12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handleClick() {</a:t>
            </a:r>
            <a:endParaRPr lang="en-US" sz="12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console.log('buy');</a:t>
            </a:r>
            <a:endParaRPr lang="en-US" sz="12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30" dirty="0"/>
          </a:p>
          <a:p>
            <a:pPr marL="0" indent="0" algn="l">
              <a:lnSpc>
                <a:spcPct val="100000"/>
              </a:lnSpc>
              <a:buNone/>
            </a:pPr>
            <a:endParaRPr lang="en-US" sz="12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 onClick={handleClick}&gt;</a:t>
            </a:r>
            <a:endParaRPr lang="en-US" sz="12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Купить</a:t>
            </a:r>
            <a:endParaRPr lang="en-US" sz="12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&lt;/button&gt;</a:t>
            </a:r>
            <a:endParaRPr lang="en-US" sz="12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3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3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5806440" y="1444752"/>
            <a:ext cx="2606040" cy="1143000"/>
          </a:xfrm>
          <a:prstGeom prst="roundRect">
            <a:avLst>
              <a:gd name="adj" fmla="val 5600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971032" y="1563624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ПРАВИЛЬНО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5971032" y="1801368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onClick={handleClick}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5971032" y="2157984"/>
            <a:ext cx="2276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Передаём ссылку. React вызовет её позже.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86800" y="1444752"/>
            <a:ext cx="2606040" cy="1143000"/>
          </a:xfrm>
          <a:prstGeom prst="roundRect">
            <a:avLst>
              <a:gd name="adj" fmla="val 5600"/>
            </a:avLst>
          </a:prstGeom>
          <a:solidFill>
            <a:srgbClr val="FEF3F2"/>
          </a:solidFill>
          <a:ln w="12700">
            <a:solidFill>
              <a:srgbClr val="F7B4AE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851392" y="1563624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ОШИБКА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8851392" y="1801368"/>
            <a:ext cx="2276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onClick={handleClick()}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8851392" y="2157984"/>
            <a:ext cx="22768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Функция вызовется во время render.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806440" y="2880360"/>
            <a:ext cx="5486400" cy="1051560"/>
          </a:xfrm>
          <a:prstGeom prst="roundRect">
            <a:avLst>
              <a:gd name="adj" fmla="val 6087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71032" y="2999232"/>
            <a:ext cx="5157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АРГУМЕНТ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5971032" y="3236976"/>
            <a:ext cx="5157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onClick={() =&gt; addToCart(product.id)}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5971032" y="3557016"/>
            <a:ext cx="515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Обёртка создаёт функцию, которая вызовет нужный код при событии.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806440" y="4224528"/>
            <a:ext cx="5486400" cy="1051560"/>
          </a:xfrm>
          <a:prstGeom prst="roundRect">
            <a:avLst>
              <a:gd name="adj" fmla="val 6087"/>
            </a:avLst>
          </a:prstGeom>
          <a:solidFill>
            <a:srgbClr val="F1EDFF"/>
          </a:solidFill>
          <a:ln w="12700">
            <a:solidFill>
              <a:srgbClr val="CFC5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971032" y="4343400"/>
            <a:ext cx="5157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5971032" y="4581144"/>
            <a:ext cx="5157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handleClick(event) { … }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5971032" y="4901184"/>
            <a:ext cx="5157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передаст объект события. DOM-методы preventDefault и stopPropagation сохраняются.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60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КОМПОНЕНТЫ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0744200" y="256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33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85216" y="585216"/>
            <a:ext cx="11018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Однонаправленный поток: данные вниз, события вверх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85216" y="1042416"/>
            <a:ext cx="11018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30480">
            <a:solidFill>
              <a:srgbClr val="0796A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26280" y="1325880"/>
            <a:ext cx="3154680" cy="804672"/>
          </a:xfrm>
          <a:prstGeom prst="roundRect">
            <a:avLst>
              <a:gd name="adj" fmla="val 7955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690872" y="1444752"/>
            <a:ext cx="2825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4690872" y="1682496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&lt;Cart /&gt;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 flipH="1">
            <a:off x="3931920" y="2139696"/>
            <a:ext cx="1234440" cy="694940"/>
          </a:xfrm>
          <a:prstGeom prst="line">
            <a:avLst/>
          </a:prstGeom>
          <a:noFill/>
          <a:ln w="22860">
            <a:solidFill>
              <a:srgbClr val="2F6FE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040880" y="2139696"/>
            <a:ext cx="2240280" cy="740664"/>
          </a:xfrm>
          <a:prstGeom prst="line">
            <a:avLst/>
          </a:prstGeom>
          <a:noFill/>
          <a:ln w="22860">
            <a:solidFill>
              <a:srgbClr val="2F6FE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00400" y="238658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props: count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8068072" y="2350009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props: items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1261872" y="2880360"/>
            <a:ext cx="3337560" cy="914400"/>
          </a:xfrm>
          <a:prstGeom prst="roundRect">
            <a:avLst>
              <a:gd name="adj" fmla="val 7000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426464" y="2999232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1426464" y="3236976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&lt;CartBadge count={count} /&gt;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7589520" y="2880360"/>
            <a:ext cx="3337560" cy="914400"/>
          </a:xfrm>
          <a:prstGeom prst="roundRect">
            <a:avLst>
              <a:gd name="adj" fmla="val 7000"/>
            </a:avLst>
          </a:prstGeom>
          <a:solidFill>
            <a:srgbClr val="E8F7FA"/>
          </a:solidFill>
          <a:ln w="12700">
            <a:solidFill>
              <a:srgbClr val="A7DEE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754112" y="2999232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7754112" y="3236976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&lt;CartList items={items} /&gt;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2926080" y="3822192"/>
            <a:ext cx="2194560" cy="795528"/>
          </a:xfrm>
          <a:prstGeom prst="line">
            <a:avLst/>
          </a:prstGeom>
          <a:noFill/>
          <a:ln w="22860">
            <a:solidFill>
              <a:srgbClr val="F05A2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6672105" y="3822192"/>
            <a:ext cx="2609055" cy="768096"/>
          </a:xfrm>
          <a:prstGeom prst="line">
            <a:avLst/>
          </a:prstGeom>
          <a:noFill/>
          <a:ln w="22860">
            <a:solidFill>
              <a:srgbClr val="F05A2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936492" y="407822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onRemove(id)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7976632" y="4107063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onCheckout()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4526280" y="4617720"/>
            <a:ext cx="3154680" cy="804672"/>
          </a:xfrm>
          <a:prstGeom prst="roundRect">
            <a:avLst>
              <a:gd name="adj" fmla="val 7955"/>
            </a:avLst>
          </a:prstGeom>
          <a:solidFill>
            <a:srgbClr val="FFF1EB"/>
          </a:solidFill>
          <a:ln w="12700">
            <a:solidFill>
              <a:srgbClr val="FFC5B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690872" y="4736592"/>
            <a:ext cx="2825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 PROPS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4690872" y="4974336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обновляют state родителя</a:t>
            </a:r>
            <a:endParaRPr lang="en-US" sz="1170" dirty="0"/>
          </a:p>
        </p:txBody>
      </p:sp>
      <p:sp>
        <p:nvSpPr>
          <p:cNvPr id="27" name="Text 25"/>
          <p:cNvSpPr/>
          <p:nvPr/>
        </p:nvSpPr>
        <p:spPr>
          <a:xfrm>
            <a:off x="2103120" y="5897880"/>
            <a:ext cx="8001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 истины остаётся в одном месте.</a:t>
            </a:r>
            <a:endParaRPr lang="en-US" sz="12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60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РЕНДЕРИНГ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0744200" y="256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33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85216" y="585216"/>
            <a:ext cx="11018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Обновление экрана: trigger → render → commit → paint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85216" y="1042416"/>
            <a:ext cx="11018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30480">
            <a:solidFill>
              <a:srgbClr val="16A36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77240" y="1828800"/>
            <a:ext cx="2331720" cy="2148840"/>
          </a:xfrm>
          <a:prstGeom prst="roundRect">
            <a:avLst>
              <a:gd name="adj" fmla="val 2979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636776" y="1353312"/>
            <a:ext cx="603504" cy="603504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636776" y="148132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F6F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78408" y="26974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начальный запуск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или setState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36392" y="2880360"/>
            <a:ext cx="384048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611880" y="1828800"/>
            <a:ext cx="2331720" cy="2148840"/>
          </a:xfrm>
          <a:prstGeom prst="roundRect">
            <a:avLst>
              <a:gd name="adj" fmla="val 2979"/>
            </a:avLst>
          </a:prstGeom>
          <a:solidFill>
            <a:srgbClr val="F1EDFF"/>
          </a:solidFill>
          <a:ln w="12700">
            <a:solidFill>
              <a:srgbClr val="CFC5F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471416" y="1353312"/>
            <a:ext cx="603504" cy="603504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471416" y="148132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21488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C4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813048" y="26974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вызывает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71032" y="2880360"/>
            <a:ext cx="384048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446520" y="1828800"/>
            <a:ext cx="2331720" cy="2148840"/>
          </a:xfrm>
          <a:prstGeom prst="roundRect">
            <a:avLst>
              <a:gd name="adj" fmla="val 2979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306056" y="1353312"/>
            <a:ext cx="603504" cy="603504"/>
          </a:xfrm>
          <a:prstGeom prst="ellipse">
            <a:avLst/>
          </a:prstGeom>
          <a:solidFill>
            <a:srgbClr val="16A36B"/>
          </a:solidFill>
          <a:ln w="12700">
            <a:solidFill>
              <a:srgbClr val="16A36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306056" y="148132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21488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6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47688" y="26974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минимальные изменения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DOM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805672" y="2880360"/>
            <a:ext cx="384048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281160" y="1828800"/>
            <a:ext cx="2331720" cy="2148840"/>
          </a:xfrm>
          <a:prstGeom prst="roundRect">
            <a:avLst>
              <a:gd name="adj" fmla="val 2979"/>
            </a:avLst>
          </a:prstGeom>
          <a:solidFill>
            <a:srgbClr val="FFF1EB"/>
          </a:solidFill>
          <a:ln w="12700">
            <a:solidFill>
              <a:srgbClr val="FFC5B2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140696" y="1353312"/>
            <a:ext cx="603504" cy="603504"/>
          </a:xfrm>
          <a:prstGeom prst="ellipse">
            <a:avLst/>
          </a:prstGeom>
          <a:solidFill>
            <a:srgbClr val="F05A28"/>
          </a:solidFill>
          <a:ln w="12700">
            <a:solidFill>
              <a:srgbClr val="F05A2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140696" y="1481328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509760" y="21488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05A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PAINT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482328" y="269748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браузер отображает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пиксели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78992" y="4709160"/>
            <a:ext cx="10058400" cy="914400"/>
          </a:xfrm>
          <a:prstGeom prst="roundRect">
            <a:avLst>
              <a:gd name="adj" fmla="val 7000"/>
            </a:avLst>
          </a:prstGeom>
          <a:solidFill>
            <a:srgbClr val="FFF8E3"/>
          </a:solidFill>
          <a:ln w="12700">
            <a:solidFill>
              <a:srgbClr val="F2D78D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243584" y="4873752"/>
            <a:ext cx="9729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— вычисление следующего описания UI. Он ещё не означает изменение DOM.</a:t>
            </a:r>
            <a:endParaRPr lang="en-US" sz="126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60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РЕНДЕРИНГ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0744200" y="256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33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85216" y="585216"/>
            <a:ext cx="11018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компонент рендерится снова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85216" y="1042416"/>
            <a:ext cx="11018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30480">
            <a:solidFill>
              <a:srgbClr val="16A36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31520" y="1417320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F1EDFF"/>
          </a:solidFill>
          <a:ln w="12700">
            <a:solidFill>
              <a:srgbClr val="CFC5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96112" y="1536192"/>
            <a:ext cx="4928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896112" y="1773936"/>
            <a:ext cx="4928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render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2194560"/>
            <a:ext cx="4928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root.render(&lt;App /&gt;)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1417320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73952" y="1536192"/>
            <a:ext cx="4928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6473952" y="1773936"/>
            <a:ext cx="4928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Обновился собственный state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73952" y="2194560"/>
            <a:ext cx="4928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setCount(...)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990088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" y="3108960"/>
            <a:ext cx="4928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896112" y="3346704"/>
            <a:ext cx="4928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Рендерится родитель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" y="3767328"/>
            <a:ext cx="4928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дети вызываются рекурсивно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2990088"/>
            <a:ext cx="5257800" cy="1280160"/>
          </a:xfrm>
          <a:prstGeom prst="roundRect">
            <a:avLst>
              <a:gd name="adj" fmla="val 5000"/>
            </a:avLst>
          </a:prstGeom>
          <a:solidFill>
            <a:srgbClr val="FFF1EB"/>
          </a:solidFill>
          <a:ln w="12700">
            <a:solidFill>
              <a:srgbClr val="FFC5B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73952" y="3108960"/>
            <a:ext cx="4928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PROPS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6473952" y="3346704"/>
            <a:ext cx="4928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Изменилось </a:t>
            </a:r>
            <a:r>
              <a:rPr lang="en-US" sz="1400" b="1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</a:t>
            </a: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props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73952" y="3767328"/>
            <a:ext cx="4928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потребители получают новое значение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417320" y="4709160"/>
            <a:ext cx="9418320" cy="1051560"/>
          </a:xfrm>
          <a:prstGeom prst="roundRect">
            <a:avLst>
              <a:gd name="adj" fmla="val 6957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581912" y="4818888"/>
            <a:ext cx="9089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важная модель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1581912" y="5056632"/>
            <a:ext cx="908913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Parent() {</a:t>
            </a:r>
            <a:endParaRPr lang="en-US" sz="114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[count, setCount] = useState(0);</a:t>
            </a:r>
            <a:endParaRPr lang="en-US" sz="1140" dirty="0"/>
          </a:p>
          <a:p>
            <a:pPr marL="0" indent="0" algn="l">
              <a:lnSpc>
                <a:spcPct val="100000"/>
              </a:lnSpc>
              <a:buNone/>
            </a:pPr>
            <a:endParaRPr lang="en-US" sz="114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&lt;Child label="Всегда тот же текст" /&gt;;</a:t>
            </a:r>
            <a:endParaRPr lang="en-US" sz="114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40" dirty="0"/>
          </a:p>
          <a:p>
            <a:pPr marL="0" indent="0" algn="l">
              <a:lnSpc>
                <a:spcPct val="100000"/>
              </a:lnSpc>
              <a:buNone/>
            </a:pPr>
            <a:endParaRPr lang="en-US" sz="114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Parent обновил state → Child тоже вызван снова.</a:t>
            </a:r>
            <a:endParaRPr lang="en-US" sz="114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60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РЕНДЕРИНГ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0744200" y="256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33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85216" y="585216"/>
            <a:ext cx="11018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должен </a:t>
            </a:r>
            <a:r>
              <a:rPr lang="en-US" sz="2350" b="1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быть</a:t>
            </a: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350" b="1" dirty="0" err="1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чистым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85216" y="1042416"/>
            <a:ext cx="11018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30480">
            <a:solidFill>
              <a:srgbClr val="16A36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8368" y="1417320"/>
            <a:ext cx="5120640" cy="3977640"/>
          </a:xfrm>
          <a:prstGeom prst="roundRect">
            <a:avLst>
              <a:gd name="adj" fmla="val 1839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527048"/>
            <a:ext cx="4791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нечистый render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822960" y="1764792"/>
            <a:ext cx="4791456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nextId = 0;</a:t>
            </a:r>
            <a:endParaRPr lang="en-US" sz="1120" dirty="0"/>
          </a:p>
          <a:p>
            <a:pPr marL="0" indent="0" algn="l">
              <a:lnSpc>
                <a:spcPct val="100000"/>
              </a:lnSpc>
              <a:buNone/>
            </a:pPr>
            <a:endParaRPr lang="en-US" sz="11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BadItem() {</a:t>
            </a:r>
            <a:endParaRPr lang="en-US" sz="11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nextId += 1;           // ❌ меняет внешнее значение</a:t>
            </a:r>
            <a:endParaRPr lang="en-US" sz="11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localStorage.setItem(  // ❌ внешний эффект</a:t>
            </a:r>
            <a:endParaRPr lang="en-US" sz="11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'lastRender',</a:t>
            </a:r>
            <a:endParaRPr lang="en-US" sz="11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String(Date.now()),</a:t>
            </a:r>
            <a:endParaRPr lang="en-US" sz="11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20" dirty="0"/>
          </a:p>
          <a:p>
            <a:pPr marL="0" indent="0" algn="l">
              <a:lnSpc>
                <a:spcPct val="100000"/>
              </a:lnSpc>
              <a:buNone/>
            </a:pPr>
            <a:endParaRPr lang="en-US" sz="11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&lt;li&gt;#{nextId}&lt;/li&gt;;</a:t>
            </a:r>
            <a:endParaRPr lang="en-US" sz="112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2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6236208" y="14447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7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Чистый компонент</a:t>
            </a:r>
            <a:endParaRPr lang="en-US" sz="1570" dirty="0"/>
          </a:p>
        </p:txBody>
      </p:sp>
      <p:sp>
        <p:nvSpPr>
          <p:cNvPr id="11" name="Shape 9"/>
          <p:cNvSpPr/>
          <p:nvPr/>
        </p:nvSpPr>
        <p:spPr>
          <a:xfrm>
            <a:off x="6236208" y="1993392"/>
            <a:ext cx="4800600" cy="914400"/>
          </a:xfrm>
          <a:prstGeom prst="roundRect">
            <a:avLst>
              <a:gd name="adj" fmla="val 7000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0" y="2112264"/>
            <a:ext cx="4471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ДЕТЕРМИНИРОВАН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6400800" y="2350008"/>
            <a:ext cx="4471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Одинаковые inputs → одинаковый JSX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6236208" y="3136392"/>
            <a:ext cx="4800600" cy="914400"/>
          </a:xfrm>
          <a:prstGeom prst="roundRect">
            <a:avLst>
              <a:gd name="adj" fmla="val 7000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0" y="3255264"/>
            <a:ext cx="4471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МУТИРУЕТ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6400800" y="3493008"/>
            <a:ext cx="4471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меняет props, state и внешние объекты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6236208" y="4279392"/>
            <a:ext cx="4800600" cy="914400"/>
          </a:xfrm>
          <a:prstGeom prst="roundRect">
            <a:avLst>
              <a:gd name="adj" fmla="val 7000"/>
            </a:avLst>
          </a:prstGeom>
          <a:solidFill>
            <a:srgbClr val="FFF1EB"/>
          </a:solidFill>
          <a:ln w="12700">
            <a:solidFill>
              <a:srgbClr val="FFC5B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0" y="4398264"/>
            <a:ext cx="4471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ДЕЛАЕТ I/O</a:t>
            </a:r>
            <a:endParaRPr lang="en-US" sz="720" dirty="0"/>
          </a:p>
        </p:txBody>
      </p:sp>
      <p:sp>
        <p:nvSpPr>
          <p:cNvPr id="19" name="Text 17"/>
          <p:cNvSpPr/>
          <p:nvPr/>
        </p:nvSpPr>
        <p:spPr>
          <a:xfrm>
            <a:off x="6400800" y="4636008"/>
            <a:ext cx="4471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localStorage, fetch, timer, DOM-команд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822960" y="5669280"/>
            <a:ext cx="10332720" cy="566928"/>
          </a:xfrm>
          <a:prstGeom prst="roundRect">
            <a:avLst>
              <a:gd name="adj" fmla="val 11290"/>
            </a:avLst>
          </a:prstGeom>
          <a:solidFill>
            <a:srgbClr val="F1EDFF"/>
          </a:solidFill>
          <a:ln w="12700">
            <a:solidFill>
              <a:srgbClr val="CFC5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87552" y="5833872"/>
            <a:ext cx="10003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StrictMode повторно вызывает render в development, чтобы обнаружить скрытые мутации.</a:t>
            </a:r>
            <a:endParaRPr lang="en-US" sz="11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60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РЕНДЕРИНГ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0744200" y="256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33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85216" y="585216"/>
            <a:ext cx="11018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привязан к позиции компонента в дереве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85216" y="1042416"/>
            <a:ext cx="11018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30480">
            <a:solidFill>
              <a:srgbClr val="16A36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138988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Тот же type + key + позиция → React сохраняет state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" y="2011680"/>
            <a:ext cx="5166360" cy="2148840"/>
          </a:xfrm>
          <a:prstGeom prst="roundRect">
            <a:avLst>
              <a:gd name="adj" fmla="val 2979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05840" y="2130552"/>
            <a:ext cx="4837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СОХРАНЕНИЕ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05840" y="2368296"/>
            <a:ext cx="4837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&lt;Counter key="a" /&gt; остаётся на месте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1143000" y="27889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57400" y="2679192"/>
            <a:ext cx="2468880" cy="512064"/>
          </a:xfrm>
          <a:prstGeom prst="roundRect">
            <a:avLst>
              <a:gd name="adj" fmla="val 30357"/>
            </a:avLst>
          </a:prstGeom>
          <a:solidFill>
            <a:srgbClr val="FFFFFF"/>
          </a:solidFill>
          <a:ln w="1016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057400" y="2688336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 · count=3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4526280" y="2926080"/>
            <a:ext cx="548640" cy="0"/>
          </a:xfrm>
          <a:prstGeom prst="line">
            <a:avLst/>
          </a:prstGeom>
          <a:noFill/>
          <a:ln w="17780">
            <a:solidFill>
              <a:srgbClr val="16A3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143000" y="34290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057400" y="3319272"/>
            <a:ext cx="2468880" cy="512064"/>
          </a:xfrm>
          <a:prstGeom prst="roundRect">
            <a:avLst>
              <a:gd name="adj" fmla="val 30357"/>
            </a:avLst>
          </a:prstGeom>
          <a:solidFill>
            <a:srgbClr val="FFFFFF"/>
          </a:solidFill>
          <a:ln w="1016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057400" y="3328416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 · count=3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6199632" y="2011680"/>
            <a:ext cx="5166360" cy="2148840"/>
          </a:xfrm>
          <a:prstGeom prst="roundRect">
            <a:avLst>
              <a:gd name="adj" fmla="val 2979"/>
            </a:avLst>
          </a:prstGeom>
          <a:solidFill>
            <a:srgbClr val="FFF1EB"/>
          </a:solidFill>
          <a:ln w="12700">
            <a:solidFill>
              <a:srgbClr val="FFC5B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364224" y="2130552"/>
            <a:ext cx="4837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СБРОС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6364224" y="2368296"/>
            <a:ext cx="4837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Другой key или position → новый state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6492240" y="27889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1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406640" y="2679192"/>
            <a:ext cx="2606040" cy="512064"/>
          </a:xfrm>
          <a:prstGeom prst="roundRect">
            <a:avLst>
              <a:gd name="adj" fmla="val 30357"/>
            </a:avLst>
          </a:prstGeom>
          <a:solidFill>
            <a:srgbClr val="FFFFFF"/>
          </a:solidFill>
          <a:ln w="10160">
            <a:solidFill>
              <a:srgbClr val="FFC5B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406640" y="2688336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 key="a" ·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34290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2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406640" y="3319272"/>
            <a:ext cx="2606040" cy="512064"/>
          </a:xfrm>
          <a:prstGeom prst="roundRect">
            <a:avLst>
              <a:gd name="adj" fmla="val 30357"/>
            </a:avLst>
          </a:prstGeom>
          <a:solidFill>
            <a:srgbClr val="FFFFFF"/>
          </a:solidFill>
          <a:ln w="10160">
            <a:solidFill>
              <a:srgbClr val="FFC5B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406640" y="3328416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 key="b" · 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88920" y="4681728"/>
            <a:ext cx="6583680" cy="1115568"/>
          </a:xfrm>
          <a:prstGeom prst="roundRect">
            <a:avLst>
              <a:gd name="adj" fmla="val 6557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953512" y="4791456"/>
            <a:ext cx="6254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может сознательно сбросить состояние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2953512" y="5029200"/>
            <a:ext cx="6254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{isEditing ? (</a:t>
            </a:r>
            <a:endParaRPr lang="en-US" sz="12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&lt;Form key="edit" /&gt;</a:t>
            </a:r>
            <a:endParaRPr lang="en-US" sz="12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: (</a:t>
            </a:r>
            <a:endParaRPr lang="en-US" sz="12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&lt;Preview key="view" /&gt;</a:t>
            </a:r>
            <a:endParaRPr lang="en-US" sz="12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)}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60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0744200" y="256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33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85216" y="585216"/>
            <a:ext cx="11018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— память конкретного экземпляра компонента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85216" y="1042416"/>
            <a:ext cx="11018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30480">
            <a:solidFill>
              <a:srgbClr val="16A36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8368" y="1417320"/>
            <a:ext cx="5303520" cy="3794760"/>
          </a:xfrm>
          <a:prstGeom prst="roundRect">
            <a:avLst>
              <a:gd name="adj" fmla="val 1928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527048"/>
            <a:ext cx="4974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Counter.tsx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822960" y="1764792"/>
            <a:ext cx="4974336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useState } from 'react';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Counter() {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[count, setCount] = useState(0);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&lt;button onClick={() =&gt; setCount(count + 1)}&gt;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Нажато: {count}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&lt;/button&gt;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46520" y="148132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7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даёт useState</a:t>
            </a:r>
            <a:endParaRPr lang="en-US" sz="1570" dirty="0"/>
          </a:p>
        </p:txBody>
      </p:sp>
      <p:sp>
        <p:nvSpPr>
          <p:cNvPr id="11" name="Shape 9"/>
          <p:cNvSpPr/>
          <p:nvPr/>
        </p:nvSpPr>
        <p:spPr>
          <a:xfrm>
            <a:off x="6446520" y="1993392"/>
            <a:ext cx="4663440" cy="960120"/>
          </a:xfrm>
          <a:prstGeom prst="roundRect">
            <a:avLst>
              <a:gd name="adj" fmla="val 6667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11112" y="2112264"/>
            <a:ext cx="4334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6611112" y="2350008"/>
            <a:ext cx="4334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Текущее значение этого render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6611112" y="2660904"/>
            <a:ext cx="4334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— снимок состояния на момент вызова компонента.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446520" y="3218688"/>
            <a:ext cx="4663440" cy="960120"/>
          </a:xfrm>
          <a:prstGeom prst="roundRect">
            <a:avLst>
              <a:gd name="adj" fmla="val 6667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611112" y="3337560"/>
            <a:ext cx="4334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SETTER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6611112" y="3575304"/>
            <a:ext cx="4334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Запросить следующий render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6611112" y="3886200"/>
            <a:ext cx="4334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setCount не меняет локальную переменную мгновенно.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446520" y="4443984"/>
            <a:ext cx="4663440" cy="960120"/>
          </a:xfrm>
          <a:prstGeom prst="roundRect">
            <a:avLst>
              <a:gd name="adj" fmla="val 6667"/>
            </a:avLst>
          </a:prstGeom>
          <a:solidFill>
            <a:srgbClr val="F1EDFF"/>
          </a:solidFill>
          <a:ln w="12700">
            <a:solidFill>
              <a:srgbClr val="CFC5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611112" y="4562856"/>
            <a:ext cx="4334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6611112" y="4800600"/>
            <a:ext cx="4334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&lt;Counter /&gt; имеет свой state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6611112" y="5111496"/>
            <a:ext cx="4334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экземпляра компонента не делят count автоматически.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914400" y="580644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вызывается только на верхнем уровне компонента или custom hook.</a:t>
            </a:r>
            <a:endParaRPr lang="en-US" sz="108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60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0744200" y="256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33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85216" y="585216"/>
            <a:ext cx="11018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useState: начальное значение, тип и функция обновления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85216" y="1042416"/>
            <a:ext cx="11018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30480">
            <a:solidFill>
              <a:srgbClr val="16A36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8368" y="1444752"/>
            <a:ext cx="5486400" cy="3063240"/>
          </a:xfrm>
          <a:prstGeom prst="roundRect">
            <a:avLst>
              <a:gd name="adj" fmla="val 2388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554480"/>
            <a:ext cx="5157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ProductPage.tsx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822960" y="1792224"/>
            <a:ext cx="5157216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Tab = 'overview' | 'reviews';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ProductPage() {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[tab, setTab] = useState&lt;Tab&gt;('overview');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[query, setQuery] = useState('');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[selectedId, setSelectedId] =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useState&lt;string | null&gt;(null);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1417320"/>
            <a:ext cx="2267712" cy="1261872"/>
          </a:xfrm>
          <a:prstGeom prst="roundRect">
            <a:avLst>
              <a:gd name="adj" fmla="val 5072"/>
            </a:avLst>
          </a:prstGeom>
          <a:solidFill>
            <a:srgbClr val="F1EDFF"/>
          </a:solidFill>
          <a:ln w="12700">
            <a:solidFill>
              <a:srgbClr val="CFC5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748272" y="1536192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USESTATE&lt;T&gt;()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6748272" y="1773936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 состояния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6748272" y="214884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 выводится автоматически; generic нужен для union/null.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9052560" y="1417320"/>
            <a:ext cx="2267712" cy="1261872"/>
          </a:xfrm>
          <a:prstGeom prst="roundRect">
            <a:avLst>
              <a:gd name="adj" fmla="val 5072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217152" y="1536192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VALUE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9217152" y="1773936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при первом mount</a:t>
            </a:r>
            <a:endParaRPr lang="en-US" sz="1130" dirty="0"/>
          </a:p>
        </p:txBody>
      </p:sp>
      <p:sp>
        <p:nvSpPr>
          <p:cNvPr id="17" name="Text 15"/>
          <p:cNvSpPr/>
          <p:nvPr/>
        </p:nvSpPr>
        <p:spPr>
          <a:xfrm>
            <a:off x="9217152" y="214884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дорогого вычисления: useState(() =&gt; createInitial()).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6583680" y="2926080"/>
            <a:ext cx="2267712" cy="1261872"/>
          </a:xfrm>
          <a:prstGeom prst="roundRect">
            <a:avLst>
              <a:gd name="adj" fmla="val 5072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748272" y="3044952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VALUE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6748272" y="3282696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Снимок текущего render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6748272" y="365760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изменяйте напрямую.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9052560" y="2926080"/>
            <a:ext cx="2267712" cy="1261872"/>
          </a:xfrm>
          <a:prstGeom prst="roundRect">
            <a:avLst>
              <a:gd name="adj" fmla="val 5072"/>
            </a:avLst>
          </a:prstGeom>
          <a:solidFill>
            <a:srgbClr val="FFF1EB"/>
          </a:solidFill>
          <a:ln w="12700">
            <a:solidFill>
              <a:srgbClr val="FFC5B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217152" y="3044952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SETSTATE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9217152" y="3282696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Планирует обновление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9217152" y="3657600"/>
            <a:ext cx="1938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Принимает значение или updater-функцию.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960120" y="4983480"/>
            <a:ext cx="10149840" cy="868680"/>
          </a:xfrm>
          <a:prstGeom prst="roundRect">
            <a:avLst>
              <a:gd name="adj" fmla="val 7368"/>
            </a:avLst>
          </a:prstGeom>
          <a:solidFill>
            <a:srgbClr val="FFF8E3"/>
          </a:solidFill>
          <a:ln w="12700">
            <a:solidFill>
              <a:srgbClr val="F2D78D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124712" y="5148072"/>
            <a:ext cx="9820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6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Храните минимальное состояние. Всё, что можно вычислить из props/state во время render, обычно не нужно дублировать.</a:t>
            </a:r>
            <a:endParaRPr lang="en-US" sz="116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60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0744200" y="256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33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85216" y="585216"/>
            <a:ext cx="11018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— снимок; обновления группируются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85216" y="1042416"/>
            <a:ext cx="11018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30480">
            <a:solidFill>
              <a:srgbClr val="16A36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8368" y="13716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481328"/>
            <a:ext cx="5020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snapshot.tsx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822960" y="1719072"/>
            <a:ext cx="5020056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Counter() {</a:t>
            </a:r>
            <a:endParaRPr lang="en-US" sz="114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[count, setCount] = useState(0);</a:t>
            </a:r>
            <a:endParaRPr lang="en-US" sz="1140" dirty="0"/>
          </a:p>
          <a:p>
            <a:pPr marL="0" indent="0" algn="l">
              <a:lnSpc>
                <a:spcPct val="100000"/>
              </a:lnSpc>
              <a:buNone/>
            </a:pPr>
            <a:endParaRPr lang="en-US" sz="114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handleClick() {</a:t>
            </a:r>
            <a:endParaRPr lang="en-US" sz="114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setCount(count + 1);</a:t>
            </a:r>
            <a:endParaRPr lang="en-US" sz="114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setCount(count + 1);</a:t>
            </a:r>
            <a:endParaRPr lang="en-US" sz="114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setCount(count + 1);</a:t>
            </a:r>
            <a:endParaRPr lang="en-US" sz="114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40" dirty="0"/>
          </a:p>
          <a:p>
            <a:pPr marL="0" indent="0" algn="l">
              <a:lnSpc>
                <a:spcPct val="100000"/>
              </a:lnSpc>
              <a:buNone/>
            </a:pPr>
            <a:endParaRPr lang="en-US" sz="114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&lt;button onClick={handleClick}&gt;{count}&lt;/button&gt;;</a:t>
            </a:r>
            <a:endParaRPr lang="en-US" sz="114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40" dirty="0"/>
          </a:p>
          <a:p>
            <a:pPr marL="0" indent="0" algn="l">
              <a:lnSpc>
                <a:spcPct val="100000"/>
              </a:lnSpc>
              <a:buNone/>
            </a:pPr>
            <a:endParaRPr lang="en-US" sz="114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4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После клика: +1, а не +3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6327648" y="2606040"/>
            <a:ext cx="640080" cy="0"/>
          </a:xfrm>
          <a:prstGeom prst="line">
            <a:avLst/>
          </a:prstGeom>
          <a:noFill/>
          <a:ln w="22860">
            <a:solidFill>
              <a:srgbClr val="16A36B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132320" y="1371600"/>
            <a:ext cx="4389120" cy="2487168"/>
          </a:xfrm>
          <a:prstGeom prst="roundRect">
            <a:avLst>
              <a:gd name="adj" fmla="val 2941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296912" y="1481328"/>
            <a:ext cx="4059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updater function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7296912" y="1719072"/>
            <a:ext cx="405993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handleClick() {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setCount(current =&gt; current + 1);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setCount(current =&gt; current + 1);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setCount(current =&gt; current + 1);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endParaRPr lang="en-US" sz="11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После клика: +3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32320" y="4224528"/>
            <a:ext cx="4389120" cy="1024128"/>
          </a:xfrm>
          <a:prstGeom prst="roundRect">
            <a:avLst>
              <a:gd name="adj" fmla="val 6250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296912" y="4343400"/>
            <a:ext cx="4059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7296912" y="4581144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фиксирован внутри обработчика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96912" y="4901184"/>
            <a:ext cx="4059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1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три вызова видят значение из одного render. Updater-функции выполняются последовательно.</a:t>
            </a:r>
            <a:endParaRPr lang="en-US" sz="910" dirty="0"/>
          </a:p>
        </p:txBody>
      </p:sp>
      <p:sp>
        <p:nvSpPr>
          <p:cNvPr id="18" name="Text 16"/>
          <p:cNvSpPr/>
          <p:nvPr/>
        </p:nvSpPr>
        <p:spPr>
          <a:xfrm>
            <a:off x="914400" y="59436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setState — не присваивание, а запрос React вычислить следующее состояние.</a:t>
            </a:r>
            <a:endParaRPr lang="en-US" sz="112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60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0744200" y="256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33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85216" y="585216"/>
            <a:ext cx="11018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Объекты и массивы обновляем через новое значение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85216" y="1042416"/>
            <a:ext cx="11018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30480">
            <a:solidFill>
              <a:srgbClr val="16A36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58368" y="137160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1481328"/>
            <a:ext cx="4745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state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822960" y="1719072"/>
            <a:ext cx="4745736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Profile = {</a:t>
            </a:r>
            <a:endParaRPr lang="en-US" sz="111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string;</a:t>
            </a:r>
            <a:endParaRPr lang="en-US" sz="111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city: string;</a:t>
            </a:r>
            <a:endParaRPr lang="en-US" sz="111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10" dirty="0"/>
          </a:p>
          <a:p>
            <a:pPr marL="0" indent="0" algn="l">
              <a:lnSpc>
                <a:spcPct val="100000"/>
              </a:lnSpc>
              <a:buNone/>
            </a:pPr>
            <a:endParaRPr lang="en-US" sz="111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[profile, setProfile] = useState&lt;Profile&gt;({</a:t>
            </a:r>
            <a:endParaRPr lang="en-US" sz="111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'Ада',</a:t>
            </a:r>
            <a:endParaRPr lang="en-US" sz="111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city: 'Лондон',</a:t>
            </a:r>
            <a:endParaRPr lang="en-US" sz="111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10" dirty="0"/>
          </a:p>
          <a:p>
            <a:pPr marL="0" indent="0" algn="l">
              <a:lnSpc>
                <a:spcPct val="100000"/>
              </a:lnSpc>
              <a:buNone/>
            </a:pPr>
            <a:endParaRPr lang="en-US" sz="111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setProfile(current =&gt; ({</a:t>
            </a:r>
            <a:endParaRPr lang="en-US" sz="111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...current,</a:t>
            </a:r>
            <a:endParaRPr lang="en-US" sz="111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city: 'Париж',</a:t>
            </a:r>
            <a:endParaRPr lang="en-US" sz="111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1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}));</a:t>
            </a:r>
            <a:endParaRPr lang="en-US" sz="1110" dirty="0"/>
          </a:p>
        </p:txBody>
      </p:sp>
      <p:sp>
        <p:nvSpPr>
          <p:cNvPr id="10" name="Shape 8"/>
          <p:cNvSpPr/>
          <p:nvPr/>
        </p:nvSpPr>
        <p:spPr>
          <a:xfrm>
            <a:off x="6144768" y="137160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111827"/>
          </a:solidFill>
          <a:ln w="12700">
            <a:solidFill>
              <a:srgbClr val="24324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1481328"/>
            <a:ext cx="5065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array state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6309360" y="1719072"/>
            <a:ext cx="5065776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Item = { id: string; done: boolean };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setItems(items =&gt;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items.map(item =&gt;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item.id === id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? { ...item, done: !item.done }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item,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setItems(items =&gt;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items.filter(item =&gt; item.id !== id),</a:t>
            </a:r>
            <a:endParaRPr lang="en-US" sz="107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914400" y="5705856"/>
            <a:ext cx="3154680" cy="566928"/>
          </a:xfrm>
          <a:prstGeom prst="roundRect">
            <a:avLst>
              <a:gd name="adj" fmla="val 11290"/>
            </a:avLst>
          </a:prstGeom>
          <a:solidFill>
            <a:srgbClr val="FEF3F2"/>
          </a:solidFill>
          <a:ln w="12700">
            <a:solidFill>
              <a:srgbClr val="F7B4A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78992" y="5870448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b="1" dirty="0">
                <a:solidFill>
                  <a:srgbClr val="D92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profile.city = "Париж"  ✕</a:t>
            </a:r>
            <a:endParaRPr lang="en-US" sz="1110" dirty="0"/>
          </a:p>
        </p:txBody>
      </p:sp>
      <p:sp>
        <p:nvSpPr>
          <p:cNvPr id="15" name="Shape 13"/>
          <p:cNvSpPr/>
          <p:nvPr/>
        </p:nvSpPr>
        <p:spPr>
          <a:xfrm>
            <a:off x="4526280" y="5705856"/>
            <a:ext cx="3154680" cy="566928"/>
          </a:xfrm>
          <a:prstGeom prst="roundRect">
            <a:avLst>
              <a:gd name="adj" fmla="val 11290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690872" y="5870448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...profile, city }  ✓</a:t>
            </a:r>
            <a:endParaRPr lang="en-US" sz="1110" dirty="0"/>
          </a:p>
        </p:txBody>
      </p:sp>
      <p:sp>
        <p:nvSpPr>
          <p:cNvPr id="17" name="Shape 15"/>
          <p:cNvSpPr/>
          <p:nvPr/>
        </p:nvSpPr>
        <p:spPr>
          <a:xfrm>
            <a:off x="8138160" y="5705856"/>
            <a:ext cx="3154680" cy="566928"/>
          </a:xfrm>
          <a:prstGeom prst="roundRect">
            <a:avLst>
              <a:gd name="adj" fmla="val 11290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302752" y="5870448"/>
            <a:ext cx="2825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1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/ filter / toSorted  ✓</a:t>
            </a:r>
            <a:endParaRPr lang="en-US" sz="111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2560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kern="0" spc="60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840" dirty="0"/>
          </a:p>
        </p:txBody>
      </p:sp>
      <p:sp>
        <p:nvSpPr>
          <p:cNvPr id="3" name="Text 1"/>
          <p:cNvSpPr/>
          <p:nvPr/>
        </p:nvSpPr>
        <p:spPr>
          <a:xfrm>
            <a:off x="10744200" y="25603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4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33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585216" y="585216"/>
            <a:ext cx="110185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Общее состояние поднимаем к ближайшему общему родителю</a:t>
            </a:r>
            <a:endParaRPr lang="en-US" sz="2350" dirty="0"/>
          </a:p>
        </p:txBody>
      </p:sp>
      <p:sp>
        <p:nvSpPr>
          <p:cNvPr id="5" name="Shape 3"/>
          <p:cNvSpPr/>
          <p:nvPr/>
        </p:nvSpPr>
        <p:spPr>
          <a:xfrm>
            <a:off x="585216" y="1042416"/>
            <a:ext cx="1101852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0" y="6812280"/>
            <a:ext cx="12191695" cy="0"/>
          </a:xfrm>
          <a:prstGeom prst="line">
            <a:avLst/>
          </a:prstGeom>
          <a:noFill/>
          <a:ln w="30480">
            <a:solidFill>
              <a:srgbClr val="16A36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325112" y="1261872"/>
            <a:ext cx="3520440" cy="960120"/>
          </a:xfrm>
          <a:prstGeom prst="roundRect">
            <a:avLst>
              <a:gd name="adj" fmla="val 6667"/>
            </a:avLst>
          </a:prstGeom>
          <a:solidFill>
            <a:srgbClr val="ECFDF3"/>
          </a:solidFill>
          <a:ln w="12700">
            <a:solidFill>
              <a:srgbClr val="A7E4C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489704" y="1380744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OF TRUTH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4489704" y="1618488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&lt;Accordion /&gt;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9704" y="1920240"/>
            <a:ext cx="31912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activeId хранится здесь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 flipH="1">
            <a:off x="4009292" y="2240280"/>
            <a:ext cx="1157068" cy="777239"/>
          </a:xfrm>
          <a:prstGeom prst="line">
            <a:avLst/>
          </a:prstGeom>
          <a:noFill/>
          <a:ln w="21590">
            <a:solidFill>
              <a:srgbClr val="2F6FE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022592" y="2240280"/>
            <a:ext cx="2194560" cy="850392"/>
          </a:xfrm>
          <a:prstGeom prst="line">
            <a:avLst/>
          </a:prstGeom>
          <a:noFill/>
          <a:ln w="21590">
            <a:solidFill>
              <a:srgbClr val="2F6FE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890270" y="243943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isOpen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30944" y="249174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isOpen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143000" y="3090672"/>
            <a:ext cx="3657600" cy="1005840"/>
          </a:xfrm>
          <a:prstGeom prst="roundRect">
            <a:avLst>
              <a:gd name="adj" fmla="val 6364"/>
            </a:avLst>
          </a:prstGeom>
          <a:solidFill>
            <a:srgbClr val="EEF4FF"/>
          </a:solidFill>
          <a:ln w="12700">
            <a:solidFill>
              <a:srgbClr val="B9CE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307592" y="3209544"/>
            <a:ext cx="3328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CHILD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1307592" y="3447288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&lt;Panel id="delivery" /&gt;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88352" y="3090672"/>
            <a:ext cx="3657600" cy="1005840"/>
          </a:xfrm>
          <a:prstGeom prst="roundRect">
            <a:avLst>
              <a:gd name="adj" fmla="val 6364"/>
            </a:avLst>
          </a:prstGeom>
          <a:solidFill>
            <a:srgbClr val="E8F7FA"/>
          </a:solidFill>
          <a:ln w="12700">
            <a:solidFill>
              <a:srgbClr val="A7DEE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552944" y="3209544"/>
            <a:ext cx="3328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07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CHILD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7552944" y="3447288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&lt;Panel id="payment" /&gt;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971800" y="4133088"/>
            <a:ext cx="2167128" cy="786384"/>
          </a:xfrm>
          <a:prstGeom prst="line">
            <a:avLst/>
          </a:prstGeom>
          <a:noFill/>
          <a:ln w="21590">
            <a:solidFill>
              <a:srgbClr val="F05A2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7388352" y="4133088"/>
            <a:ext cx="1828800" cy="713232"/>
          </a:xfrm>
          <a:prstGeom prst="line">
            <a:avLst/>
          </a:prstGeom>
          <a:noFill/>
          <a:ln w="21590">
            <a:solidFill>
              <a:srgbClr val="F05A2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977640" y="43571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onShow()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78040" y="437083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onShow()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25112" y="4919472"/>
            <a:ext cx="3520440" cy="868680"/>
          </a:xfrm>
          <a:prstGeom prst="roundRect">
            <a:avLst>
              <a:gd name="adj" fmla="val 7368"/>
            </a:avLst>
          </a:prstGeom>
          <a:solidFill>
            <a:srgbClr val="FFF1EB"/>
          </a:solidFill>
          <a:ln w="12700">
            <a:solidFill>
              <a:srgbClr val="FFC5B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489704" y="5038344"/>
            <a:ext cx="3191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40" dirty="0">
                <a:solidFill>
                  <a:srgbClr val="F05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4489704" y="5276088"/>
            <a:ext cx="3191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setActiveId(id)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606247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6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источник истины исключает рассинхронизацию между соседями.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301752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6C3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&lt;REACT&gt;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631168" y="10972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58368" y="68580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Ментальная модель React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компоненты описывают UI, события меняют state, React обновляет DOM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86384" y="2075688"/>
            <a:ext cx="329184" cy="329184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86384" y="208483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325880" y="2011680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2743200" y="20116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функция: props + state → JSX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86384" y="2825496"/>
            <a:ext cx="329184" cy="329184"/>
          </a:xfrm>
          <a:prstGeom prst="ellipse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86384" y="283464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25880" y="2761488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2743200" y="27614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удобный синтаксис, который становится JavaScript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6384" y="3575304"/>
            <a:ext cx="329184" cy="329184"/>
          </a:xfrm>
          <a:prstGeom prst="ellipse">
            <a:avLst/>
          </a:prstGeom>
          <a:solidFill>
            <a:srgbClr val="0796A8"/>
          </a:solidFill>
          <a:ln w="12700">
            <a:solidFill>
              <a:srgbClr val="0796A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86384" y="358444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325880" y="3511296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2743200" y="351129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чистое вычисление; trigger → render → commit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6384" y="4325112"/>
            <a:ext cx="329184" cy="329184"/>
          </a:xfrm>
          <a:prstGeom prst="ellipse">
            <a:avLst/>
          </a:prstGeom>
          <a:solidFill>
            <a:srgbClr val="16A36B"/>
          </a:solidFill>
          <a:ln w="12700">
            <a:solidFill>
              <a:srgbClr val="16A36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86384" y="433425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325880" y="4261104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1260" dirty="0"/>
          </a:p>
        </p:txBody>
      </p:sp>
      <p:sp>
        <p:nvSpPr>
          <p:cNvPr id="21" name="Text 19"/>
          <p:cNvSpPr/>
          <p:nvPr/>
        </p:nvSpPr>
        <p:spPr>
          <a:xfrm>
            <a:off x="2743200" y="426110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память экземпляра; обновление планирует render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4969</Words>
  <Application>Microsoft Macintosh PowerPoint</Application>
  <PresentationFormat>Широкоэкранный</PresentationFormat>
  <Paragraphs>875</Paragraphs>
  <Slides>33</Slides>
  <Notes>33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33</vt:i4>
      </vt:variant>
    </vt:vector>
  </HeadingPairs>
  <TitlesOfParts>
    <vt:vector size="36" baseType="lpstr">
      <vt:lpstr>Arial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— введение, компоненты, рендеринг и состояние</dc:title>
  <dc:subject>Введение в React: JSX, компоненты, props, события, рендеринг и useState</dc:subject>
  <dc:creator>OpenAI</dc:creator>
  <cp:lastModifiedBy>Maksim Drobyshev</cp:lastModifiedBy>
  <cp:revision>4</cp:revision>
  <dcterms:created xsi:type="dcterms:W3CDTF">2026-10-12T19:21:38Z</dcterms:created>
  <dcterms:modified xsi:type="dcterms:W3CDTF">2026-10-20T16:50:44Z</dcterms:modified>
</cp:coreProperties>
</file>