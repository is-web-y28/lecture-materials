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14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Свяжите лекцию с предыдущей: Browser APIs уже знакомы, но их порядок выполнения остался за рамками.
• Обозначьте две половины: сначала модель асинхронного браузера, затем TypeScript как система контрактов поверх JavaScript.
• Сразу проговорите: TypeScript не заменяет JavaScript и не исполняется браузером напрямую.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 баланс: примерно половина занятия — асинхронность, половина — TypeScript.
• Не пытайтесь покрыть все детали event loop и системы типов: цель — устойчивые модели, на которые можно опираться дальше.
• TypeScript-блок заканчивается применением к обычному DOM-приложению и мостом к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Напомните LIFO-модель: вызов добавляет frame, return снимает его со стека.
• Ключевой термин — run-to-completion: текущая задача завершается целиком перед следующей.
• Переход: гарантия упрощает рассуждения, но длинный синхронный код блокирует вкладку.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Покажите, что «асинхронный JavaScript» не означает параллельное выполнение произвольного кода на главном потоке.
• Пока стек занят, браузер не может обработать следующий click и не отдаёт кадр на экран.
• Web Worker можно назвать как отдельный агент для CPU-задач, но без углубления в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Разделите engine и host: движок исполняет язык, браузер предоставляет таймеры, сеть, события и рендеринг.
• Асинхронная операция регистрируется в host, а JavaScript продолжает выполнять текущую задачу.
• Когда результат готов, host не вызывает callback мгновенно — он ставит продолжение в подходящую очередь.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Дайте упрощённый цикл: task → все microtasks → возможность rendering → следующая task.
• Не обещайте, что браузер рисует после каждой задачи: это возможность, а не обязательный кадр.
• Event loop — не отдельный поток с магией, а алгоритм координации очередей и выполнения.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Task — крупная единица работы event loop: старт скрипта, обработчик события, callback таймера.
• setTimeout(0) не означает немедленный вызов; callback ждёт завершения текущей задачи и своей очереди.
• Точный арбитраж между разными task sources — деталь платформы; для базовой модели достаточно различать task и microtask.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 Promise callbacks и queueMicrotask применяйте термин microtask.
• После завершения task event loop очищает microtask queue полностью, включая добавленные по ходу microtasks.
• Это объясняет, почему Promise.then обычно выполняется раньше setTimeout(0).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Попросите аудиторию предсказать вывод, но не оформляйте это как отдельное практическое задание.
• Сначала выполняются A и E, затем две Promise reactions, и только потом callback таймера.
• Важный нюанс: второй then ставится в очередь после выполнения первого, но очередь microtasks всё ещё очищается до конца.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Покажите, что «асинхронность» — не один API, а общий способ работы разных подсистем браузера.
• requestAnimationFrame связан с кадром, таймер — с минимальной задержкой, fetch — с сетью; гарантии у них разные.
• Общий интерфейс продолжения исторически выражался callback-функцией.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Не называйте callbacks плохими: события и многие низкоуровневые API естественно используют функции-обработчики.
• Проблема возникает при композиции нескольких асинхронных шагов и едином потоке ошибок.
• Promise — не «асинхронная операция», а стандартный объект, который описывает её будущий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Объясните Promise как дескриптор результата во времени, а не как поток или отдельный thread.
• Producer меняет состояние ровно один раз; consumer регистрирует продолжения.
• fetch возвращает Promise сразу, хотя сетевой ответ появится позднее.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Дайте точную терминологию: fulfilled и rejected — две формы settled.
• Promise меняет состояние один раз; это важная гарантия по сравнению с произвольным callback API.
• Реакции на уже settled Promise всё равно вызываются асинхронно через microtask.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Основной контракт: каждый метод возвращает новый Promise — не тот же объект.
• finally используйте для hideSpinner, снятия блокировки и общей очистки, но не для преобразования данных.
• Переход: значение, которое callback возвращает, определяет следующий шаг цепочки.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 Promise resolution procedure на практическом уровне: обычное значение передаётся дальше, Promise ожидается автоматически.
• Главная ошибка новичков — вызвать асинхронную функцию внутри then и забыть return.
• Цепочка остаётся линейной, пока каждый шаг возвращает данные или Promise следующего шага.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Ошибку создают throw, rejected Promise или исключение внутри then callback.
• Промежуточные success handlers пропускаются до ближайшего catch.
• После catch цепочка может стать успешной, если обработчик вернул fallback; для повторного отказа нужно throw.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Сравнивайте комбинаторы по двум вопросам: когда завершаются и что происходит при ошибке.
• Promise.all не запускает операции — они уже стартуют при создании Promise; метод только объединяет ожидание.
• Для базового курса достаточно уверенно владеть all и allSettled, остальные — знать по назначению.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Проговорите две гарантии: async возвращает Promise, await распаковывает fulfilled value или бросает rejection как исключение.
• await не блокирует браузер — он разбивает выполнение функции на продолжения.
• Переход: удобный синтаксис легко скрывает лишнюю последовательность, поэтому сравним sequential и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Последовательность нужна, когда второй шаг зависит от первого результата.
• Независимые запросы лучше стартовать до await и объединять Promise.all.
• Важно: Promise.all fail-fast; если нужны все результаты независимо от ошибок, используйте allSettled.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Разделите два ожидания: получение Response и чтение/парсинг body.
• fetch — Browser API; Promise — часть языка JavaScript.
• Response не превращает данные в JSON автоматически, поэтому нужен отдельный response.json().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Это одна из самых важных особенностей fetch: HTTP error status не равен rejected Promise.
• Проверяйте response.ok или допустимый диапазон status до парсинга бизнес-данных.
• catch должен обрабатывать и сетевые ошибки, и исключения, которые мы сами бросили после проверки статуса.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Отмена не откатывает уже выполненную работу на сервере — она прекращает ожидание и чтение ответа на клиенте.
• Один signal можно передать нескольким связанным операциям и отменить их вместе.
• AbortController также подходит для addEventListener({ signal }), что связывает тему с предыдущей лекцией.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Начните не с синтаксиса, а с проблем больших JavaScript-кодовых баз: скрытые контракты и поздние ошибки.
• TypeScript усиливает инструменты разработки — редактор, автодополнение, навигацию и рефакторинг.
• Важно: система типов не меняет модель выполнения JavaScript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 type erasure на конкретном примере: interface и двоеточия исчезают из output JavaScript.
• Браузер не обязан знать о TypeScript; ему подключают скомпилированный .js файл.
• Следствие: типы сами по себе не валидируют ответ сервера во время выполнения.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Не углубляйтесь в внутренности compiler pipeline: важны проверка до запуска и emit совместимого JavaScript.
• target управляет синтаксисом output, а наличие API вроде fetch или Promise зависит от среды и polyfills.
• TypeScript может работать вместе с bundler, но для учебного проекта достаточно команды tsc.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Подчеркните: TypeScript не требует React, Vite или другого фреймворка.
• В браузер подключается dist/main.js; исходные .ts файлы остаются кодом разработки.
• В ESM-import после компиляции часто указывают расширение .js, потому что именно такой файл загрузит браузер.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tsconfig — версия контракта сборки: она должна храниться в репозитории рядом с кодом.
• Для простого проекта без bundler можно использовать module ES2022/ESNext и подходящий moduleResolution; конфигурация зависит от среды.
• Главный учебный выбор — strict: он включает полезные проверки вместо частично типизированного режима.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Type inference — ключевая часть TypeScript, поэтому не превращайте код в «Java с двоеточиями».
• Аннотируйте входы, внешние данные и публичные функции; локальные очевидные значения оставляйте checker-у.
• Возвращаемый тип полезно указывать у экспортируемых функций, если хотите зафиксировать стабильный контракт.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Сделайте акцент на unknown вместо any для внешних данных: unknown заставляет выполнить проверку.
• Литеральные типы превращают допустимые состояния в явный конечный набор.
• Tuple нужен, когда смысл задаёт позиция; для обычных списков предпочитайте массив объектов.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 interface и type как близкие инструменты: для объектов допустимы оба, важнее единый стиль команды.
• optional означает возможность отсутствия, а не автоматически пустую строку или null.
• Structural typing: объект подходит контракту, если содержит нужные свойства совместимых типов.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Union — это «одно из», а narrowing — процесс доказательства, какой вариант сейчас перед нами.
• Discriminated unions особенно хорошо моделируют состояния запроса и компонента.
• Type guard исполняется в runtime; TypeScript использует результат проверки для статического сужения.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Generics нужны, когда один алгоритм работает с разными типами и должен сохранить связь между ними.
• querySelector&lt;HTMLButtonElement&gt; улучшает DOM-типизацию, но null-check остаётся частью контракта.
• Обязательно проговорите границу: compile-time type не валидирует network payload; для этого нужны runtime guards или schema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Закройте лекцию повторением пяти опор: stack, queues, Promise, fetch и compile-time types.
• Подчеркните, что TypeScript не заменяет runtime-проверки, а async/await не меняет event loop.
• Свяжите с React: компоненты будут получать typed props, работать с событиями и запускать те же асинхронные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353312"/>
            <a:ext cx="0" cy="4407408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7662672" y="1353312"/>
            <a:ext cx="0" cy="4407408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421624" y="1353312"/>
            <a:ext cx="0" cy="4407408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80576" y="1353312"/>
            <a:ext cx="0" cy="4407408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939528" y="1353312"/>
            <a:ext cx="0" cy="4407408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629400" y="1572768"/>
            <a:ext cx="4526280" cy="0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629400" y="2377440"/>
            <a:ext cx="4526280" cy="0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629400" y="3182112"/>
            <a:ext cx="4526280" cy="0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629400" y="3986784"/>
            <a:ext cx="4526280" cy="0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629400" y="4791456"/>
            <a:ext cx="4526280" cy="0"/>
          </a:xfrm>
          <a:prstGeom prst="line">
            <a:avLst/>
          </a:prstGeom>
          <a:noFill/>
          <a:ln w="6985">
            <a:solidFill>
              <a:srgbClr val="22304A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19556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&lt;JS + TS&gt;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841248"/>
            <a:ext cx="5989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—</a:t>
            </a:r>
            <a:endParaRPr lang="en-US" sz="2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 и TypeScript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2578608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loop, Promise, fetch и типизация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браузерных приложений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3913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</a:t>
            </a:r>
            <a:endParaRPr lang="en-US" sz="122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206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старший разработчик · Яндекс Еда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6336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6C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6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114032" y="1719072"/>
            <a:ext cx="1572768" cy="658368"/>
          </a:xfrm>
          <a:prstGeom prst="roundRect">
            <a:avLst>
              <a:gd name="adj" fmla="val 18056"/>
            </a:avLst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05472" y="18836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STACK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9760" y="1719072"/>
            <a:ext cx="1536192" cy="658368"/>
          </a:xfrm>
          <a:prstGeom prst="roundRect">
            <a:avLst>
              <a:gd name="adj" fmla="val 18056"/>
            </a:avLst>
          </a:prstGeom>
          <a:solidFill>
            <a:srgbClr val="231E46"/>
          </a:solidFill>
          <a:ln w="12700">
            <a:solidFill>
              <a:srgbClr val="463E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92056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D8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MICROTASKS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509760" y="2880360"/>
            <a:ext cx="1536192" cy="658368"/>
          </a:xfrm>
          <a:prstGeom prst="roundRect">
            <a:avLst>
              <a:gd name="adj" fmla="val 18056"/>
            </a:avLst>
          </a:prstGeom>
          <a:solidFill>
            <a:srgbClr val="20374A"/>
          </a:solidFill>
          <a:ln w="12700">
            <a:solidFill>
              <a:srgbClr val="34566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92056" y="3044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5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26096" y="2907792"/>
            <a:ext cx="987552" cy="98755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9C89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8392" y="30175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11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668512" y="2048256"/>
            <a:ext cx="786384" cy="0"/>
          </a:xfrm>
          <a:prstGeom prst="line">
            <a:avLst/>
          </a:prstGeom>
          <a:noFill/>
          <a:ln w="19050">
            <a:solidFill>
              <a:srgbClr val="CFC5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54896" y="3200400"/>
            <a:ext cx="0" cy="73152"/>
          </a:xfrm>
          <a:prstGeom prst="line">
            <a:avLst/>
          </a:prstGeom>
          <a:noFill/>
          <a:ln w="19050">
            <a:solidFill>
              <a:srgbClr val="A7DEE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01584" y="3886200"/>
            <a:ext cx="0" cy="713232"/>
          </a:xfrm>
          <a:prstGeom prst="line">
            <a:avLst/>
          </a:prstGeom>
          <a:noFill/>
          <a:ln w="19050">
            <a:solidFill>
              <a:srgbClr val="A7E4C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95744" y="4663440"/>
            <a:ext cx="1975104" cy="603504"/>
          </a:xfrm>
          <a:prstGeom prst="roundRect">
            <a:avLst>
              <a:gd name="adj" fmla="val 19697"/>
            </a:avLst>
          </a:prstGeom>
          <a:solidFill>
            <a:srgbClr val="173A31"/>
          </a:solidFill>
          <a:ln w="12700">
            <a:solidFill>
              <a:srgbClr val="2C6D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4818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C7F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436608" y="46817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91472" y="470458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10488168" y="468172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F7FA"/>
          </a:solidFill>
          <a:ln w="12700">
            <a:solidFill>
              <a:srgbClr val="E8F7FA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43032" y="470458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9619488" y="51572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74352" y="51800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10552176" y="5157216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07040" y="51800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</a:t>
            </a:r>
            <a:endParaRPr lang="en-US" sz="91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ЗАНЯТИЯ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успеем за 90 минут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040"/>
            <a:ext cx="420624" cy="420624"/>
          </a:xfrm>
          <a:prstGeom prst="ellipse">
            <a:avLst/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20" dirty="0"/>
          </a:p>
        </p:txBody>
      </p:sp>
      <p:sp>
        <p:nvSpPr>
          <p:cNvPr id="9" name="Text 7"/>
          <p:cNvSpPr txBox="1"/>
          <p:nvPr/>
        </p:nvSpPr>
        <p:spPr>
          <a:xfrm>
            <a:off x="1609344" y="138988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stack, Browser APIs и event loop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05088" y="14630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59952" y="148590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10" dirty="0"/>
          </a:p>
        </p:txBody>
      </p:sp>
      <p:sp>
        <p:nvSpPr>
          <p:cNvPr id="12" name="Text 10"/>
          <p:cNvSpPr txBox="1"/>
          <p:nvPr/>
        </p:nvSpPr>
        <p:spPr>
          <a:xfrm>
            <a:off x="10222992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мин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68680" y="2331720"/>
            <a:ext cx="420624" cy="420624"/>
          </a:xfrm>
          <a:prstGeom prst="ellipse">
            <a:avLst/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1609344" y="225856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Promise, microtasks и async/await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05088" y="23317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59952" y="235458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10" dirty="0"/>
          </a:p>
        </p:txBody>
      </p:sp>
      <p:sp>
        <p:nvSpPr>
          <p:cNvPr id="18" name="Text 16"/>
          <p:cNvSpPr txBox="1"/>
          <p:nvPr/>
        </p:nvSpPr>
        <p:spPr>
          <a:xfrm>
            <a:off x="10222992" y="23317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20–38 мин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68680" y="3200400"/>
            <a:ext cx="420624" cy="420624"/>
          </a:xfrm>
          <a:prstGeom prst="ellipse">
            <a:avLst/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1609344" y="312724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HTTP-ошибки и отмена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05088" y="320040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7FA"/>
          </a:solidFill>
          <a:ln w="12700">
            <a:solidFill>
              <a:srgbClr val="E8F7F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59952" y="322326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10" dirty="0"/>
          </a:p>
        </p:txBody>
      </p:sp>
      <p:sp>
        <p:nvSpPr>
          <p:cNvPr id="24" name="Text 22"/>
          <p:cNvSpPr txBox="1"/>
          <p:nvPr/>
        </p:nvSpPr>
        <p:spPr>
          <a:xfrm>
            <a:off x="10222992" y="3200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38–50 мин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68680" y="4069080"/>
            <a:ext cx="420624" cy="420624"/>
          </a:xfrm>
          <a:prstGeom prst="ellipse">
            <a:avLst/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1609344" y="399592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TypeScript и как он компилируется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705088" y="40690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59952" y="409194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910" dirty="0"/>
          </a:p>
        </p:txBody>
      </p:sp>
      <p:sp>
        <p:nvSpPr>
          <p:cNvPr id="30" name="Text 28"/>
          <p:cNvSpPr txBox="1"/>
          <p:nvPr/>
        </p:nvSpPr>
        <p:spPr>
          <a:xfrm>
            <a:off x="10222992" y="4069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50–68 мин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68680" y="4937760"/>
            <a:ext cx="420624" cy="420624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937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20" dirty="0"/>
          </a:p>
        </p:txBody>
      </p:sp>
      <p:sp>
        <p:nvSpPr>
          <p:cNvPr id="33" name="Text 31"/>
          <p:cNvSpPr txBox="1"/>
          <p:nvPr/>
        </p:nvSpPr>
        <p:spPr>
          <a:xfrm>
            <a:off x="1609344" y="486460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Типы, интерфейсы, guards и generics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705088" y="49377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FF1EB"/>
          </a:solidFill>
          <a:ln w="12700">
            <a:solidFill>
              <a:srgbClr val="FFF1E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59952" y="49606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SYSTEM</a:t>
            </a:r>
            <a:endParaRPr lang="en-US" sz="910" dirty="0"/>
          </a:p>
        </p:txBody>
      </p:sp>
      <p:sp>
        <p:nvSpPr>
          <p:cNvPr id="36" name="Text 34"/>
          <p:cNvSpPr txBox="1"/>
          <p:nvPr/>
        </p:nvSpPr>
        <p:spPr>
          <a:xfrm>
            <a:off x="10222992" y="49377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68–90 мин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04672" y="5925312"/>
            <a:ext cx="10698480" cy="420624"/>
          </a:xfrm>
          <a:prstGeom prst="roundRect">
            <a:avLst>
              <a:gd name="adj" fmla="val 26087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6007608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разборы кода по ходу; отдельной практической части в лекции нет.</a:t>
            </a:r>
            <a:endParaRPr lang="en-US" sz="106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Синхронный код выполняется через call stack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44168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35608"/>
            <a:ext cx="483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28216"/>
            <a:ext cx="48371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price(total, tax) 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total * (1 + tax);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checkout() {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price(1000, 0.2);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console.log(checkout());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307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STACK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95160" y="361188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3739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288036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3008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1488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2276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script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53080" y="1645920"/>
            <a:ext cx="1" cy="374904"/>
          </a:xfrm>
          <a:prstGeom prst="line">
            <a:avLst/>
          </a:prstGeom>
          <a:noFill/>
          <a:ln w="19050">
            <a:solidFill>
              <a:srgbClr val="16A36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554048" y="16962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→ push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034473" y="4379976"/>
            <a:ext cx="0" cy="438912"/>
          </a:xfrm>
          <a:prstGeom prst="line">
            <a:avLst/>
          </a:prstGeom>
          <a:noFill/>
          <a:ln w="19050">
            <a:solidFill>
              <a:srgbClr val="F05A2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281160" y="4709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→ pop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748272" y="5047488"/>
            <a:ext cx="4343400" cy="658368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31152" y="513892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текущая задача выполняется до конца.</a:t>
            </a:r>
            <a:endParaRPr lang="en-US" sz="10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JavaScript не «вклинивается» в середину функции.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Долгая задача блокирует ввод и отрисовку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4974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long-task.js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55648"/>
            <a:ext cx="49743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button.addEventListener('click', () =&gt;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started = performance.now();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(performance.now() - started &lt; 3000)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CPU занят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status.textContent = 'Готово';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7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4447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секунды на главном потоке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0" y="2148840"/>
            <a:ext cx="4343400" cy="566928"/>
          </a:xfrm>
          <a:prstGeom prst="roundRect">
            <a:avLst>
              <a:gd name="adj" fmla="val 12903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93992" y="2276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JavaScript: длинная задача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3017520"/>
            <a:ext cx="1828800" cy="530352"/>
          </a:xfrm>
          <a:prstGeom prst="roundRect">
            <a:avLst>
              <a:gd name="adj" fmla="val 17241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136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/ input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668512" y="3282696"/>
            <a:ext cx="5486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326880" y="3090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ждут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785616"/>
            <a:ext cx="1828800" cy="530352"/>
          </a:xfrm>
          <a:prstGeom prst="roundRect">
            <a:avLst>
              <a:gd name="adj" fmla="val 17241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904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/ paint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68512" y="4050792"/>
            <a:ext cx="5486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326880" y="38587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 не рисуется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4553712"/>
            <a:ext cx="1828800" cy="530352"/>
          </a:xfrm>
          <a:prstGeom prst="roundRect">
            <a:avLst>
              <a:gd name="adj" fmla="val 17241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46725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668512" y="4818888"/>
            <a:ext cx="5486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326880" y="46268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не стартует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65392" y="5513832"/>
            <a:ext cx="4480560" cy="475488"/>
          </a:xfrm>
          <a:prstGeom prst="roundRect">
            <a:avLst>
              <a:gd name="adj" fmla="val 23077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5586984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Асинхронный API не ускоряет CPU-код.</a:t>
            </a:r>
            <a:endParaRPr lang="en-US" sz="9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Тяжёлые вычисления нужно дробить или переносить в Worker.</a:t>
            </a:r>
            <a:endParaRPr lang="en-US" sz="99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выполняет часть работы вне стека JavaScript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3910" y="1533907"/>
            <a:ext cx="3520440" cy="786384"/>
          </a:xfrm>
          <a:prstGeom prst="roundRect">
            <a:avLst>
              <a:gd name="adj" fmla="val 17442"/>
            </a:avLst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74753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07992" y="2971799"/>
            <a:ext cx="3154680" cy="822960"/>
          </a:xfrm>
          <a:prstGeom prst="roundRect">
            <a:avLst>
              <a:gd name="adj" fmla="val 16667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32598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STACK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58368" y="1508760"/>
            <a:ext cx="2880360" cy="1024128"/>
          </a:xfrm>
          <a:prstGeom prst="roundRect">
            <a:avLst>
              <a:gd name="adj" fmla="val 12500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16367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0756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setTimeout / interval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8368" y="2916936"/>
            <a:ext cx="2880360" cy="1024128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044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4838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/ input / submit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58368" y="4325112"/>
            <a:ext cx="2880360" cy="1024128"/>
          </a:xfrm>
          <a:prstGeom prst="roundRect">
            <a:avLst>
              <a:gd name="adj" fmla="val 12500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8920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requestAnimationFrame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650224" y="1508760"/>
            <a:ext cx="2880360" cy="1024128"/>
          </a:xfrm>
          <a:prstGeom prst="roundRect">
            <a:avLst>
              <a:gd name="adj" fmla="val 12500"/>
            </a:avLst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33104" y="16367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33104" y="20756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/ streams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650224" y="2916936"/>
            <a:ext cx="2880360" cy="1024128"/>
          </a:xfrm>
          <a:prstGeom prst="roundRect">
            <a:avLst>
              <a:gd name="adj" fmla="val 12500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33104" y="3044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833104" y="34838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650224" y="4325112"/>
            <a:ext cx="2880360" cy="1024128"/>
          </a:xfrm>
          <a:prstGeom prst="roundRect">
            <a:avLst>
              <a:gd name="adj" fmla="val 12500"/>
            </a:avLst>
          </a:prstGeom>
          <a:solidFill>
            <a:srgbClr val="FFF8E3"/>
          </a:solidFill>
          <a:ln w="12700">
            <a:solidFill>
              <a:srgbClr val="B07B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33104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33104" y="48920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JS-agent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611880" y="2011680"/>
            <a:ext cx="68580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11880" y="3419856"/>
            <a:ext cx="68580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611880" y="4828032"/>
            <a:ext cx="68580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63840" y="2001676"/>
            <a:ext cx="707404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35824" y="3483864"/>
            <a:ext cx="91440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7863840" y="4892040"/>
            <a:ext cx="707404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62272" y="4590288"/>
            <a:ext cx="3273552" cy="749808"/>
          </a:xfrm>
          <a:prstGeom prst="roundRect">
            <a:avLst>
              <a:gd name="adj" fmla="val 18293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45152" y="4718304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сообщает о готовности</a:t>
            </a:r>
            <a:endParaRPr lang="en-US" sz="10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очередь продолжений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6096000" y="3794759"/>
            <a:ext cx="0" cy="749808"/>
          </a:xfrm>
          <a:prstGeom prst="line">
            <a:avLst/>
          </a:prstGeom>
          <a:noFill/>
          <a:ln w="19050">
            <a:solidFill>
              <a:srgbClr val="16A36B"/>
            </a:solidFill>
            <a:prstDash val="solid"/>
            <a:tailEnd type="triangle"/>
          </a:ln>
        </p:spPr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 выбирает, что выполнить следующим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0" y="2148840"/>
            <a:ext cx="2212848" cy="22128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9F8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76088" y="295579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17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1508760"/>
            <a:ext cx="2926080" cy="123444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STACK</a:t>
            </a:r>
            <a:endParaRPr lang="en-US" sz="124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выполняется одна задача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1444752"/>
            <a:ext cx="2926080" cy="1298448"/>
          </a:xfrm>
          <a:prstGeom prst="roundRect">
            <a:avLst>
              <a:gd name="adj" fmla="val 10563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1664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MICROTASK QUEUE</a:t>
            </a:r>
            <a:endParaRPr lang="en-US" sz="111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2011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reactions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queueMicrotask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503920" y="4096512"/>
            <a:ext cx="2926080" cy="1298448"/>
          </a:xfrm>
          <a:prstGeom prst="roundRect">
            <a:avLst>
              <a:gd name="adj" fmla="val 10563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43159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07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QUEUE</a:t>
            </a:r>
            <a:endParaRPr lang="en-US" sz="118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4663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 · events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tasks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13232" y="4160520"/>
            <a:ext cx="2926080" cy="1170432"/>
          </a:xfrm>
          <a:prstGeom prst="roundRect">
            <a:avLst>
              <a:gd name="adj" fmla="val 11719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4389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RENDERING</a:t>
            </a:r>
            <a:endParaRPr lang="en-US" sz="122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773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· layout · paint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703320" y="2148840"/>
            <a:ext cx="1188720" cy="502920"/>
          </a:xfrm>
          <a:prstGeom prst="line">
            <a:avLst/>
          </a:prstGeom>
          <a:noFill/>
          <a:ln w="2032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7205472" y="2148840"/>
            <a:ext cx="1115554" cy="411480"/>
          </a:xfrm>
          <a:prstGeom prst="line">
            <a:avLst/>
          </a:prstGeom>
          <a:noFill/>
          <a:ln w="2032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59167" y="3973069"/>
            <a:ext cx="1261859" cy="800099"/>
          </a:xfrm>
          <a:prstGeom prst="line">
            <a:avLst/>
          </a:prstGeom>
          <a:noFill/>
          <a:ln w="20320">
            <a:solidFill>
              <a:srgbClr val="0796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675888" y="3973069"/>
            <a:ext cx="1307592" cy="749805"/>
          </a:xfrm>
          <a:prstGeom prst="line">
            <a:avLst/>
          </a:prstGeom>
          <a:noFill/>
          <a:ln w="20320">
            <a:solidFill>
              <a:srgbClr val="16A36B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886200" y="5074920"/>
            <a:ext cx="4370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выполнить task</a:t>
            </a:r>
            <a:endParaRPr lang="en-US" sz="104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очистить microtasks</a:t>
            </a:r>
            <a:endParaRPr lang="en-US" sz="104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дать браузеру возможность отрисовать кадр</a:t>
            </a:r>
            <a:endParaRPr lang="en-US" sz="104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перейти к следующей task</a:t>
            </a:r>
            <a:endParaRPr lang="en-US" sz="104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queue: события, таймеры и другие задачи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796A8"/>
          </a:solidFill>
          <a:ln w="12700">
            <a:solidFill>
              <a:srgbClr val="0796A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1673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task попадает в стек и выполняется до конца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2057400"/>
            <a:ext cx="2423160" cy="1051560"/>
          </a:xfrm>
          <a:prstGeom prst="roundRect">
            <a:avLst>
              <a:gd name="adj" fmla="val 12174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221284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2357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1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0604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handler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3209544" y="2578608"/>
            <a:ext cx="301752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38728" y="2057400"/>
            <a:ext cx="2423160" cy="1051560"/>
          </a:xfrm>
          <a:prstGeom prst="roundRect">
            <a:avLst>
              <a:gd name="adj" fmla="val 12174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05656" y="221284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22357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</a:t>
            </a:r>
            <a:endParaRPr lang="en-US" sz="91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260604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 callback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998464" y="2578608"/>
            <a:ext cx="301752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27648" y="2057400"/>
            <a:ext cx="2423160" cy="1051560"/>
          </a:xfrm>
          <a:prstGeom prst="roundRect">
            <a:avLst>
              <a:gd name="adj" fmla="val 12174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94576" y="221284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2357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91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60604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event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787384" y="2578608"/>
            <a:ext cx="301752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16568" y="2057400"/>
            <a:ext cx="2423160" cy="1051560"/>
          </a:xfrm>
          <a:prstGeom prst="roundRect">
            <a:avLst>
              <a:gd name="adj" fmla="val 12174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3496" y="221284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8360" y="22357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</a:t>
            </a:r>
            <a:endParaRPr lang="en-US" sz="91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60604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start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1051560" y="3840480"/>
            <a:ext cx="10104120" cy="132588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25880" y="4078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не гарантирует точное время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07592" y="446227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в setTimeout — минимальная задержка,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расписание запуска</a:t>
            </a:r>
            <a:endParaRPr lang="en-US" sz="1020" dirty="0"/>
          </a:p>
        </p:txBody>
      </p:sp>
      <p:sp>
        <p:nvSpPr>
          <p:cNvPr id="30" name="Text 28"/>
          <p:cNvSpPr txBox="1"/>
          <p:nvPr/>
        </p:nvSpPr>
        <p:spPr>
          <a:xfrm>
            <a:off x="4645152" y="4078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ждёт свободный стек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46227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готовый callback не начнётся,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текущая task не завершится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7973568" y="4078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зависит от источника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46227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выбирает task из доступных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очередей по правилам платформы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5733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модель: callback готов → становится task → ждёт своей очереди.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 queue очищается раньше следующей task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138928" cy="4434840"/>
          </a:xfrm>
          <a:prstGeom prst="roundRect">
            <a:avLst>
              <a:gd name="adj" fmla="val 247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4809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microtasks.js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48097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console.log('A');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console.log('B');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queueMicrotask(() =&gt;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console.log('C');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console.log('D');</a:t>
            </a:r>
            <a:endParaRPr lang="en-US" sz="107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389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текущего стека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510528" y="2029968"/>
            <a:ext cx="384048" cy="384048"/>
          </a:xfrm>
          <a:prstGeom prst="ellipse">
            <a:avLst/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059168" y="196596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20574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empty</a:t>
            </a:r>
            <a:endParaRPr lang="en-US" sz="106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2057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синхронный код завершён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510528" y="2898648"/>
            <a:ext cx="384048" cy="384048"/>
          </a:xfrm>
          <a:prstGeom prst="ellipse">
            <a:avLst/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059168" y="283464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2926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microtask B</a:t>
            </a:r>
            <a:endParaRPr lang="en-US" sz="106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reaction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510528" y="3767328"/>
            <a:ext cx="384048" cy="384048"/>
          </a:xfrm>
          <a:prstGeom prst="ellipse">
            <a:avLst/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059168" y="370332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37947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microtask C</a:t>
            </a:r>
            <a:endParaRPr lang="en-US" sz="1060" dirty="0"/>
          </a:p>
        </p:txBody>
      </p:sp>
      <p:sp>
        <p:nvSpPr>
          <p:cNvPr id="25" name="Text 23"/>
          <p:cNvSpPr txBox="1"/>
          <p:nvPr/>
        </p:nvSpPr>
        <p:spPr>
          <a:xfrm>
            <a:off x="8577072" y="3794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queueMicrotask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510528" y="4636008"/>
            <a:ext cx="384048" cy="384048"/>
          </a:xfrm>
          <a:prstGeom prst="ellipse">
            <a:avLst/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0528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059168" y="457200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46634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07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task</a:t>
            </a:r>
            <a:endParaRPr lang="en-US" sz="1060" dirty="0"/>
          </a:p>
        </p:txBody>
      </p:sp>
      <p:sp>
        <p:nvSpPr>
          <p:cNvPr id="30" name="Text 28"/>
          <p:cNvSpPr txBox="1"/>
          <p:nvPr/>
        </p:nvSpPr>
        <p:spPr>
          <a:xfrm>
            <a:off x="8577072" y="4663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после пустой microtask queue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473952" y="5532120"/>
            <a:ext cx="4690872" cy="457200"/>
          </a:xfrm>
          <a:prstGeom prst="roundRect">
            <a:avLst>
              <a:gd name="adj" fmla="val 24000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5577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 может поставить новую microtask.</a:t>
            </a:r>
            <a:endParaRPr lang="en-US" sz="9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длинная цепочка задерживает rendering.</a:t>
            </a:r>
            <a:endParaRPr lang="en-US" sz="97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Порядок: sync → microtasks → следующая task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483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48371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console.log('A');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console.log('B'), 0);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 console.log('C'))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 console.log('D'));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console.log('E');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389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38544" y="1874520"/>
            <a:ext cx="493776" cy="493776"/>
          </a:xfrm>
          <a:prstGeom prst="ellipse">
            <a:avLst/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38544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20" dirty="0"/>
          </a:p>
        </p:txBody>
      </p:sp>
      <p:sp>
        <p:nvSpPr>
          <p:cNvPr id="13" name="Text 11"/>
          <p:cNvSpPr txBox="1"/>
          <p:nvPr/>
        </p:nvSpPr>
        <p:spPr>
          <a:xfrm>
            <a:off x="7333488" y="1956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85432" y="2386584"/>
            <a:ext cx="0" cy="201168"/>
          </a:xfrm>
          <a:prstGeom prst="line">
            <a:avLst/>
          </a:prstGeom>
          <a:noFill/>
          <a:ln w="13970">
            <a:solidFill>
              <a:srgbClr val="E4E7E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638544" y="2624328"/>
            <a:ext cx="493776" cy="493776"/>
          </a:xfrm>
          <a:prstGeom prst="ellipse">
            <a:avLst/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38544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2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27066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85432" y="3136392"/>
            <a:ext cx="0" cy="201168"/>
          </a:xfrm>
          <a:prstGeom prst="line">
            <a:avLst/>
          </a:prstGeom>
          <a:noFill/>
          <a:ln w="13970">
            <a:solidFill>
              <a:srgbClr val="E4E7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638544" y="3374136"/>
            <a:ext cx="493776" cy="493776"/>
          </a:xfrm>
          <a:prstGeom prst="ellipse">
            <a:avLst/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38544" y="33741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2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3456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 #1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85432" y="3886200"/>
            <a:ext cx="0" cy="201168"/>
          </a:xfrm>
          <a:prstGeom prst="line">
            <a:avLst/>
          </a:prstGeom>
          <a:noFill/>
          <a:ln w="13970">
            <a:solidFill>
              <a:srgbClr val="E4E7E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638544" y="4123944"/>
            <a:ext cx="493776" cy="493776"/>
          </a:xfrm>
          <a:prstGeom prst="ellipse">
            <a:avLst/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38544" y="4123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2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4206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 #2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85432" y="4636008"/>
            <a:ext cx="0" cy="201168"/>
          </a:xfrm>
          <a:prstGeom prst="line">
            <a:avLst/>
          </a:prstGeom>
          <a:noFill/>
          <a:ln w="13970">
            <a:solidFill>
              <a:srgbClr val="E4E7E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638544" y="4873752"/>
            <a:ext cx="493776" cy="493776"/>
          </a:xfrm>
          <a:prstGeom prst="ellipse">
            <a:avLst/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38544" y="4873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7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20" dirty="0"/>
          </a:p>
        </p:txBody>
      </p:sp>
      <p:sp>
        <p:nvSpPr>
          <p:cNvPr id="29" name="Text 27"/>
          <p:cNvSpPr txBox="1"/>
          <p:nvPr/>
        </p:nvSpPr>
        <p:spPr>
          <a:xfrm>
            <a:off x="7333488" y="4956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task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73952" y="5687568"/>
            <a:ext cx="4480560" cy="411480"/>
          </a:xfrm>
          <a:prstGeom prst="roundRect">
            <a:avLst>
              <a:gd name="adj" fmla="val 24444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5769864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.then создаёт следующую microtask после завершения предыдущей.</a:t>
            </a:r>
            <a:endParaRPr lang="en-US" sz="97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APIS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источники асинхронности есть в браузере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796A8"/>
          </a:solidFill>
          <a:ln w="12700">
            <a:solidFill>
              <a:srgbClr val="0796A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3383280" cy="1664208"/>
          </a:xfrm>
          <a:prstGeom prst="roundRect">
            <a:avLst>
              <a:gd name="adj" fmla="val 8242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5819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5256" y="160477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1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002536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240487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· input · submit</a:t>
            </a:r>
            <a:endParaRPr lang="en-US" sz="10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· visibilitychange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4453128" y="1417320"/>
            <a:ext cx="3383280" cy="1664208"/>
          </a:xfrm>
          <a:prstGeom prst="roundRect">
            <a:avLst>
              <a:gd name="adj" fmla="val 8242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5819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160477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</a:t>
            </a:r>
            <a:endParaRPr lang="en-US" sz="91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002536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0487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setTimeout · setInterval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8220456" y="1417320"/>
            <a:ext cx="3383280" cy="1664208"/>
          </a:xfrm>
          <a:prstGeom prst="roundRect">
            <a:avLst>
              <a:gd name="adj" fmla="val 8242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5819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9912" y="160477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910" dirty="0"/>
          </a:p>
        </p:txBody>
      </p:sp>
      <p:sp>
        <p:nvSpPr>
          <p:cNvPr id="20" name="Text 18"/>
          <p:cNvSpPr txBox="1"/>
          <p:nvPr/>
        </p:nvSpPr>
        <p:spPr>
          <a:xfrm>
            <a:off x="8385048" y="2002536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5048" y="240487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requestAnimationFrame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85800" y="3557016"/>
            <a:ext cx="3383280" cy="1664208"/>
          </a:xfrm>
          <a:prstGeom prst="roundRect">
            <a:avLst>
              <a:gd name="adj" fmla="val 8242"/>
            </a:avLst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37216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" y="37444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1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414223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" y="45445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· WebSocket · streams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453128" y="3557016"/>
            <a:ext cx="3383280" cy="1664208"/>
          </a:xfrm>
          <a:prstGeom prst="roundRect">
            <a:avLst>
              <a:gd name="adj" fmla="val 8242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7216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72584" y="37444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1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414223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Хранилища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5445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· Cache API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8220456" y="3557016"/>
            <a:ext cx="3383280" cy="1664208"/>
          </a:xfrm>
          <a:prstGeom prst="roundRect">
            <a:avLst>
              <a:gd name="adj" fmla="val 8242"/>
            </a:avLst>
          </a:prstGeom>
          <a:solidFill>
            <a:srgbClr val="FFF8E3"/>
          </a:solidFill>
          <a:ln w="12700">
            <a:solidFill>
              <a:srgbClr val="A46D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5048" y="37216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46D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39912" y="37444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A4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910" dirty="0"/>
          </a:p>
        </p:txBody>
      </p:sp>
      <p:sp>
        <p:nvSpPr>
          <p:cNvPr id="35" name="Text 33"/>
          <p:cNvSpPr txBox="1"/>
          <p:nvPr/>
        </p:nvSpPr>
        <p:spPr>
          <a:xfrm>
            <a:off x="8385048" y="414223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4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85048" y="45445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· Shared · Service</a:t>
            </a:r>
            <a:endParaRPr lang="en-US" sz="101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897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отличается, но схема повторяется: начать операцию → получить уведомление о результате → продолжить JavaScript.</a:t>
            </a:r>
            <a:endParaRPr lang="en-US" sz="108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— функция, которую вызовут позже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157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1572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loadUser(id, onSuccess, onError)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request(`/api/users/${id}`, (error, data) =&gt;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(error)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onError(error);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onSuccess(data);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loadUser(42, renderUser, showError);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2240280" cy="1417320"/>
          </a:xfrm>
          <a:prstGeom prst="roundRect">
            <a:avLst>
              <a:gd name="adj" fmla="val 903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5453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9842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Простая модель: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передали функцию — host вызовет её позже.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098280" y="1417320"/>
            <a:ext cx="2240280" cy="1417320"/>
          </a:xfrm>
          <a:prstGeom prst="roundRect">
            <a:avLst>
              <a:gd name="adj" fmla="val 9032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15453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19842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порядка и ошибок распределён между callbacks.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583680" y="3154680"/>
            <a:ext cx="4754880" cy="2331720"/>
          </a:xfrm>
          <a:prstGeom prst="roundRect">
            <a:avLst>
              <a:gd name="adj" fmla="val 549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2826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композиции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721608"/>
            <a:ext cx="43891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вложенность при нескольких шагах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отдельные каналы success / error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трудно вернуть «будущее значение»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отмена и повтор требуют соглашений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можно вызвать callback дважды или не вызвать вовсе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57150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стандартизует будущий результат и цепочку продолжений.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представляет будущий результат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6A36B"/>
          </a:solidFill>
          <a:ln w="12700">
            <a:solidFill>
              <a:srgbClr val="16A36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73168" y="1417320"/>
            <a:ext cx="2633472" cy="2633472"/>
          </a:xfrm>
          <a:prstGeom prst="ellipse">
            <a:avLst/>
          </a:prstGeom>
          <a:solidFill>
            <a:srgbClr val="16A36B"/>
          </a:solidFill>
          <a:ln w="12700">
            <a:solidFill>
              <a:srgbClr val="4CC5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56632" y="2121408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Promise&lt;T&gt;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25968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D8F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доступен сейчас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76656" y="1554480"/>
            <a:ext cx="3337560" cy="1554480"/>
          </a:xfrm>
          <a:prstGeom prst="roundRect">
            <a:avLst>
              <a:gd name="adj" fmla="val 8235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16824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12140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 операцию и в будущем вызывает resolve(value) или reject(error).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65592" y="1554480"/>
            <a:ext cx="3337560" cy="1554480"/>
          </a:xfrm>
          <a:prstGeom prst="roundRect">
            <a:avLst>
              <a:gd name="adj" fmla="val 8235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16824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12140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Подписывается через then / catch / finally и строит цепочку.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069080" y="2331720"/>
            <a:ext cx="594360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2331720"/>
            <a:ext cx="658368" cy="0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298448" y="3977640"/>
            <a:ext cx="448056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4069080"/>
            <a:ext cx="4151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promise.js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61688"/>
            <a:ext cx="4151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promise = fetch('/api/orders');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 существует сразу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console.log(promise);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promise.then(response =&gt; {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console.log(response.status);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428232" y="4023360"/>
            <a:ext cx="4480560" cy="1572768"/>
          </a:xfrm>
          <a:prstGeom prst="roundRect">
            <a:avLst>
              <a:gd name="adj" fmla="val 814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56832" y="433425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не содержит результат «внутри по запросу».</a:t>
            </a:r>
            <a:endParaRPr lang="en-US" sz="11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уведомляет подписчиков, когда результат станет известен.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Состояния: pending → fulfilled или rejected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6A36B"/>
          </a:solidFill>
          <a:ln w="12700">
            <a:solidFill>
              <a:srgbClr val="16A36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11680"/>
            <a:ext cx="2834640" cy="1051560"/>
          </a:xfrm>
          <a:prstGeom prst="roundRect">
            <a:avLst>
              <a:gd name="adj" fmla="val 15652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9A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736592" y="1444752"/>
            <a:ext cx="2834640" cy="1051560"/>
          </a:xfrm>
          <a:prstGeom prst="roundRect">
            <a:avLst>
              <a:gd name="adj" fmla="val 1565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7190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FULFILLED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736592" y="3730752"/>
            <a:ext cx="2834640" cy="1051560"/>
          </a:xfrm>
          <a:prstGeom prst="roundRect">
            <a:avLst>
              <a:gd name="adj" fmla="val 15652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40050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D9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3712464" y="2331720"/>
            <a:ext cx="969264" cy="0"/>
          </a:xfrm>
          <a:prstGeom prst="line">
            <a:avLst/>
          </a:prstGeom>
          <a:noFill/>
          <a:ln w="22860">
            <a:solidFill>
              <a:srgbClr val="16A3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12464" y="2697480"/>
            <a:ext cx="969264" cy="1371600"/>
          </a:xfrm>
          <a:prstGeom prst="line">
            <a:avLst/>
          </a:prstGeom>
          <a:noFill/>
          <a:ln w="2286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52044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resolve(value)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reject(error)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75320" y="1417320"/>
            <a:ext cx="2971800" cy="1307592"/>
          </a:xfrm>
          <a:prstGeom prst="roundRect">
            <a:avLst>
              <a:gd name="adj" fmla="val 979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1545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19842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fulfilled и rejected вместе называют settled — результат уже зафиксирован.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275320" y="2999232"/>
            <a:ext cx="2971800" cy="1307592"/>
          </a:xfrm>
          <a:prstGeom prst="roundRect">
            <a:avLst>
              <a:gd name="adj" fmla="val 979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3127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один раз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Повторный resolve/reject игнорируется. Состояние не возвращается в pending.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75320" y="4590288"/>
            <a:ext cx="2971800" cy="1078992"/>
          </a:xfrm>
          <a:prstGeom prst="roundRect">
            <a:avLst>
              <a:gd name="adj" fmla="val 11864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47183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51572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then/catch не исполняются синхронно: реакции ставятся в microtask queue.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8338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Promise закрыто для прямого чтения: работаем через подписки.</a:t>
            </a:r>
            <a:endParaRPr lang="en-US" sz="10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then, catch и finally описывают продолжение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6A36B"/>
          </a:solidFill>
          <a:ln w="12700">
            <a:solidFill>
              <a:srgbClr val="16A36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5532120" cy="315468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81328"/>
            <a:ext cx="5202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73936"/>
            <a:ext cx="52029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fetch('/api/orders')</a:t>
            </a:r>
            <a:endParaRPr lang="en-US" sz="11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.then(response =&gt; response.json())</a:t>
            </a:r>
            <a:endParaRPr lang="en-US" sz="11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.then(orders =&gt; renderOrders(orders))</a:t>
            </a:r>
            <a:endParaRPr lang="en-US" sz="11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.catch(error =&gt; showError(error))</a:t>
            </a:r>
            <a:endParaRPr lang="en-US" sz="11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.finally(() =&gt; hideSpinner());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1545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then(onFulfilled)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98424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значение успешного шага.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Возвращает новый Promise.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098280" y="141732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1545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catch(onRejected)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198424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Обрабатывает ошибку цепочки.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Эквивалент then(undefined, handler).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629400" y="3566160"/>
            <a:ext cx="4663440" cy="1783080"/>
          </a:xfrm>
          <a:prstGeom prst="roundRect">
            <a:avLst>
              <a:gd name="adj" fmla="val 7179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6941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finally(onFinally)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133088"/>
            <a:ext cx="4297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Выполняется при любом исходе.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получает результат; подходит для очистки UI и ресурсов.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callback ничего не бросает, исход цепочки сохраняется.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4672" y="4956048"/>
            <a:ext cx="5230368" cy="749808"/>
          </a:xfrm>
          <a:prstGeom prst="roundRect">
            <a:avLst>
              <a:gd name="adj" fmla="val 14634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093208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вызов then/catch/finally возвращает новый Promise.</a:t>
            </a:r>
            <a:endParaRPr lang="en-US" sz="10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Именно поэтому методы можно связывать в цепочку.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связывает шаги в одну цепочку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6A36B"/>
          </a:solidFill>
          <a:ln w="12700">
            <a:solidFill>
              <a:srgbClr val="16A36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27632"/>
            <a:ext cx="1938528" cy="658368"/>
          </a:xfrm>
          <a:prstGeom prst="roundRect">
            <a:avLst>
              <a:gd name="adj" fmla="val 19444"/>
            </a:avLst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956816"/>
            <a:ext cx="30175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7792" y="1627632"/>
            <a:ext cx="1938528" cy="658368"/>
          </a:xfrm>
          <a:prstGeom prst="roundRect">
            <a:avLst>
              <a:gd name="adj" fmla="val 19444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73752" y="1956816"/>
            <a:ext cx="30175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1224" y="1627632"/>
            <a:ext cx="1938528" cy="658368"/>
          </a:xfrm>
          <a:prstGeom prst="roundRect">
            <a:avLst>
              <a:gd name="adj" fmla="val 19444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3095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response.json()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87184" y="1956816"/>
            <a:ext cx="30175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34656" y="1627632"/>
            <a:ext cx="1938528" cy="658368"/>
          </a:xfrm>
          <a:prstGeom prst="roundRect">
            <a:avLst>
              <a:gd name="adj" fmla="val 19444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44384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Order[]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0616" y="1956816"/>
            <a:ext cx="30175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48088" y="1627632"/>
            <a:ext cx="1938528" cy="658368"/>
          </a:xfrm>
          <a:prstGeom prst="roundRect">
            <a:avLst>
              <a:gd name="adj" fmla="val 19444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57816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2743200"/>
            <a:ext cx="5577840" cy="288036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2834640"/>
            <a:ext cx="5248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return.js</a:t>
            </a:r>
            <a:endParaRPr lang="en-US" sz="86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127248"/>
            <a:ext cx="52486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fetch('/api/orders')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.then(response =&gt;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response.json(); // Promise с массивом заказов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.then(orders =&gt;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orders.filter(order =&gt; order.paid);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.then(renderOrders);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629400" y="2743200"/>
            <a:ext cx="2212848" cy="1307592"/>
          </a:xfrm>
          <a:prstGeom prst="roundRect">
            <a:avLst>
              <a:gd name="adj" fmla="val 979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28712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Обычное значение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3101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then получает его как fulfilled result.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070848" y="2743200"/>
            <a:ext cx="2212848" cy="1307592"/>
          </a:xfrm>
          <a:prstGeom prst="roundRect">
            <a:avLst>
              <a:gd name="adj" fmla="val 979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53728" y="28712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33101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ждёт его settlement и «расплющивает» результат.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629400" y="4315968"/>
            <a:ext cx="2212848" cy="1307592"/>
          </a:xfrm>
          <a:prstGeom prst="roundRect">
            <a:avLst>
              <a:gd name="adj" fmla="val 9790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443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4882896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успешный then пропускается; управление идёт в catch.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070848" y="4315968"/>
            <a:ext cx="2212848" cy="1307592"/>
          </a:xfrm>
          <a:prstGeom prst="roundRect">
            <a:avLst>
              <a:gd name="adj" fmla="val 979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53728" y="4443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return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53728" y="4882896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цепочку попадает undefined — частая логическая ошибка.</a:t>
            </a:r>
            <a:endParaRPr lang="en-US" sz="10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проходит вниз до ближайшего catch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81328"/>
            <a:ext cx="5111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73936"/>
            <a:ext cx="51114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fetch('/api/orders')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.then(checkStatus)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.then(response =&gt; response.json())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.then(validateOrders)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.then(renderOrders)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.catch(error =&gt;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reportError(error);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showError(error);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629400" y="1600200"/>
            <a:ext cx="1938528" cy="54864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4848" y="17190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checkStatus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869680" y="1719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24544" y="174193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7598664" y="2167128"/>
            <a:ext cx="0" cy="256032"/>
          </a:xfrm>
          <a:prstGeom prst="line">
            <a:avLst/>
          </a:prstGeom>
          <a:noFill/>
          <a:ln w="15240">
            <a:solidFill>
              <a:srgbClr val="16A36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629400" y="2441448"/>
            <a:ext cx="1938528" cy="54864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84848" y="25603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869680" y="2560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24544" y="258318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7598664" y="3008376"/>
            <a:ext cx="0" cy="256032"/>
          </a:xfrm>
          <a:prstGeom prst="line">
            <a:avLst/>
          </a:prstGeom>
          <a:noFill/>
          <a:ln w="15240">
            <a:solidFill>
              <a:srgbClr val="16A36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29400" y="3282696"/>
            <a:ext cx="1938528" cy="548640"/>
          </a:xfrm>
          <a:prstGeom prst="roundRect">
            <a:avLst>
              <a:gd name="adj" fmla="val 16667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34015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D9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869680" y="34015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24544" y="34244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7598664" y="3849624"/>
            <a:ext cx="0" cy="256032"/>
          </a:xfrm>
          <a:prstGeom prst="line">
            <a:avLst/>
          </a:prstGeom>
          <a:noFill/>
          <a:ln w="15240">
            <a:solidFill>
              <a:srgbClr val="D92D2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629400" y="4123944"/>
            <a:ext cx="1938528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4848" y="42428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8869680" y="42428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24544" y="426567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7598664" y="4690872"/>
            <a:ext cx="0" cy="256032"/>
          </a:xfrm>
          <a:prstGeom prst="line">
            <a:avLst/>
          </a:prstGeom>
          <a:noFill/>
          <a:ln w="15240">
            <a:solidFill>
              <a:srgbClr val="66708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629400" y="4965192"/>
            <a:ext cx="1938528" cy="548640"/>
          </a:xfrm>
          <a:prstGeom prst="roundRect">
            <a:avLst>
              <a:gd name="adj" fmla="val 16667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84848" y="5084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8869680" y="508406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24544" y="510692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6492240" y="5486400"/>
            <a:ext cx="4434840" cy="502920"/>
          </a:xfrm>
          <a:prstGeom prst="roundRect">
            <a:avLst>
              <a:gd name="adj" fmla="val 21818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5559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может восстановить цепочку, если вернёт значение,</a:t>
            </a:r>
            <a:endParaRPr lang="en-US" sz="9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продолжить ошибку через throw.</a:t>
            </a:r>
            <a:endParaRPr lang="en-US" sz="99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Комбинаторы управляют группой Promise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35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</a:t>
            </a:r>
            <a:endParaRPr lang="en-US" sz="102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3350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Успех</a:t>
            </a:r>
            <a:endParaRPr lang="en-US" sz="1020" dirty="0"/>
          </a:p>
        </p:txBody>
      </p:sp>
      <p:sp>
        <p:nvSpPr>
          <p:cNvPr id="9" name="Text 7"/>
          <p:cNvSpPr txBox="1"/>
          <p:nvPr/>
        </p:nvSpPr>
        <p:spPr>
          <a:xfrm>
            <a:off x="5138928" y="13350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endParaRPr lang="en-US" sz="102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335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использовать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58368" y="173736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Promise.all</a:t>
            </a:r>
            <a:endParaRPr lang="en-US" sz="107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успешны</a:t>
            </a:r>
            <a:endParaRPr lang="en-US" sz="99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8745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reject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параллельная загрузка зависимых данных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658368" y="269748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Promise.allSettled</a:t>
            </a:r>
            <a:endParaRPr lang="en-US" sz="107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ждём всех</a:t>
            </a:r>
            <a:endParaRPr lang="en-US" sz="99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8346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отклоняется из-за элемента</a:t>
            </a:r>
            <a:endParaRPr lang="en-US" sz="99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отчёт по каждому запросу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658368" y="365760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Promise.race</a:t>
            </a:r>
            <a:endParaRPr lang="en-US" sz="107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3794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settled</a:t>
            </a:r>
            <a:endParaRPr lang="en-US" sz="99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37947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settled</a:t>
            </a:r>
            <a:endParaRPr lang="en-US" sz="99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794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гонка с timeout или альтернативой</a:t>
            </a:r>
            <a:endParaRPr lang="en-US" sz="990" dirty="0"/>
          </a:p>
        </p:txBody>
      </p:sp>
      <p:sp>
        <p:nvSpPr>
          <p:cNvPr id="26" name="Shape 24"/>
          <p:cNvSpPr/>
          <p:nvPr/>
        </p:nvSpPr>
        <p:spPr>
          <a:xfrm>
            <a:off x="658368" y="461772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Promise.any</a:t>
            </a:r>
            <a:endParaRPr lang="en-US" sz="107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4754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fulfilled</a:t>
            </a:r>
            <a:endParaRPr lang="en-US" sz="990" dirty="0"/>
          </a:p>
        </p:txBody>
      </p:sp>
      <p:sp>
        <p:nvSpPr>
          <p:cNvPr id="29" name="Text 27"/>
          <p:cNvSpPr txBox="1"/>
          <p:nvPr/>
        </p:nvSpPr>
        <p:spPr>
          <a:xfrm>
            <a:off x="5138928" y="47548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AggregateError, если все rejected</a:t>
            </a:r>
            <a:endParaRPr lang="en-US" sz="99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4754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успешный источник</a:t>
            </a:r>
            <a:endParaRPr lang="en-US" sz="990" dirty="0"/>
          </a:p>
        </p:txBody>
      </p:sp>
      <p:sp>
        <p:nvSpPr>
          <p:cNvPr id="31" name="Shape 29"/>
          <p:cNvSpPr/>
          <p:nvPr/>
        </p:nvSpPr>
        <p:spPr>
          <a:xfrm>
            <a:off x="3108960" y="5623560"/>
            <a:ext cx="5989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73552" y="5715000"/>
            <a:ext cx="5660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parallel.js</a:t>
            </a:r>
            <a:endParaRPr lang="en-US" sz="860" dirty="0"/>
          </a:p>
        </p:txBody>
      </p:sp>
      <p:sp>
        <p:nvSpPr>
          <p:cNvPr id="33" name="Text 31"/>
          <p:cNvSpPr txBox="1"/>
          <p:nvPr/>
        </p:nvSpPr>
        <p:spPr>
          <a:xfrm>
            <a:off x="3273552" y="6007608"/>
            <a:ext cx="5660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[user, orders] = await Promise.all([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fetchUser(),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fetchOrders(),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 — линейный синтаксис над Promise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385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3858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loadOrders() {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fetch('/api/orders');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orders = await response.json();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orders.filter(order =&gt; order.paid);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loadOrders();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Promise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84848" y="1417320"/>
            <a:ext cx="2148840" cy="1499616"/>
          </a:xfrm>
          <a:prstGeom prst="roundRect">
            <a:avLst>
              <a:gd name="adj" fmla="val 8537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67728" y="15453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function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1984248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возвращает Promise.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return превращается в fulfilled result.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44000" y="1417320"/>
            <a:ext cx="2148840" cy="1499616"/>
          </a:xfrm>
          <a:prstGeom prst="roundRect">
            <a:avLst>
              <a:gd name="adj" fmla="val 8537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15453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1984248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settlement Promise и отдаёт значение fulfilled result.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784848" y="3218688"/>
            <a:ext cx="4507992" cy="1463040"/>
          </a:xfrm>
          <a:prstGeom prst="roundRect">
            <a:avLst>
              <a:gd name="adj" fmla="val 875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67728" y="3346704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 с функцией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3785616"/>
            <a:ext cx="4142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Продолжение после await планируется позже.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поток не блокируется, но конкретная async-функция приостанавливает свой сценарий.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784848" y="4983480"/>
            <a:ext cx="4507992" cy="594360"/>
          </a:xfrm>
          <a:prstGeom prst="roundRect">
            <a:avLst>
              <a:gd name="adj" fmla="val 18462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7728" y="509320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работает с любым значением,</a:t>
            </a:r>
            <a:endParaRPr lang="en-US" sz="101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полезен прежде всего с Promise.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каждый await должен идти последовательно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298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5212080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882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sequential.js</a:t>
            </a:r>
            <a:endParaRPr lang="en-US" sz="86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75688"/>
            <a:ext cx="48828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await fetchUser();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 = await fetchOrders();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второй запрос стартует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после первого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298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212080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1783080"/>
            <a:ext cx="4882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parallel.js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075688"/>
            <a:ext cx="48828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userPromise = fetchUser();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ordersPromise = fetchOrders();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[user, orders] = await Promise.all([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userPromise,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ordersPromise,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1481328" y="468172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184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999232" y="515721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сумма задержек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150608" y="468172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5184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150608" y="515721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5650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максимум из задержек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возвращает Promise&lt;Response&gt;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796A8"/>
          </a:solidFill>
          <a:ln w="12700">
            <a:solidFill>
              <a:srgbClr val="0796A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90472"/>
            <a:ext cx="2487168" cy="11430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68249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34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08483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method + headers + body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108960" y="2057400"/>
            <a:ext cx="283464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47288" y="1490472"/>
            <a:ext cx="2487168" cy="1143000"/>
          </a:xfrm>
          <a:prstGeom prst="roundRect">
            <a:avLst>
              <a:gd name="adj" fmla="val 12000"/>
            </a:avLst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68249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08483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выполняет HTTP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61888" y="2057400"/>
            <a:ext cx="283464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0216" y="1490472"/>
            <a:ext cx="2487168" cy="1143000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4808" y="168249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34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208483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+ headers + body stream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814816" y="2057400"/>
            <a:ext cx="283464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3144" y="1490472"/>
            <a:ext cx="2487168" cy="1143000"/>
          </a:xfrm>
          <a:prstGeom prst="roundRect">
            <a:avLst>
              <a:gd name="adj" fmla="val 12000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7736" y="168249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body</a:t>
            </a:r>
            <a:endParaRPr lang="en-US" sz="1340" dirty="0"/>
          </a:p>
        </p:txBody>
      </p:sp>
      <p:sp>
        <p:nvSpPr>
          <p:cNvPr id="21" name="Text 19"/>
          <p:cNvSpPr txBox="1"/>
          <p:nvPr/>
        </p:nvSpPr>
        <p:spPr>
          <a:xfrm>
            <a:off x="9317736" y="208483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json() / text() / blob()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58368" y="3182112"/>
            <a:ext cx="5623560" cy="2542032"/>
          </a:xfrm>
          <a:prstGeom prst="roundRect">
            <a:avLst>
              <a:gd name="adj" fmla="val 4317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273552"/>
            <a:ext cx="5294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fetch.js</a:t>
            </a:r>
            <a:endParaRPr lang="en-US" sz="86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566160"/>
            <a:ext cx="52943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loadUser(id) {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fetch(`/api/users/${id}`, {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Accept: 'application/json' },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response.json();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user;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601968" y="3200400"/>
            <a:ext cx="2240280" cy="1216152"/>
          </a:xfrm>
          <a:prstGeom prst="roundRect">
            <a:avLst>
              <a:gd name="adj" fmla="val 10526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4848" y="3328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await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37673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заголовки ответа и объект Response.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098280" y="3200400"/>
            <a:ext cx="2240280" cy="1216152"/>
          </a:xfrm>
          <a:prstGeom prst="roundRect">
            <a:avLst>
              <a:gd name="adj" fmla="val 10526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1160" y="3328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await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7673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Читает stream тела и парсит JSON.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601968" y="4690872"/>
            <a:ext cx="4736592" cy="1051560"/>
          </a:xfrm>
          <a:prstGeom prst="roundRect">
            <a:avLst>
              <a:gd name="adj" fmla="val 12174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84848" y="4818888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читается один раз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5257800"/>
            <a:ext cx="4370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body — поток. После json()/text() свойство bodyUsed становится true.</a:t>
            </a:r>
            <a:endParaRPr lang="en-US" sz="10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и 500 не отклоняют Promise автоматически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796A8"/>
          </a:solidFill>
          <a:ln w="12700">
            <a:solidFill>
              <a:srgbClr val="0796A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340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http-errors.js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fetchJson(url)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fetch(url);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(!response.ok)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Error(`HTTP ${response.status}`);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response.json();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fetchJson('/api/orders');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showError(error);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2148840" cy="1426464"/>
          </a:xfrm>
          <a:prstGeom prst="roundRect">
            <a:avLst>
              <a:gd name="adj" fmla="val 8974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5453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fetch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8424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Сетевой сбой, CORS, abort и некоторые ошибки запроса.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25712" y="1417320"/>
            <a:ext cx="2148840" cy="1426464"/>
          </a:xfrm>
          <a:prstGeom prst="roundRect">
            <a:avLst>
              <a:gd name="adj" fmla="val 8974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8592" y="15453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Fulfilled fetch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08592" y="198424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404, 500 и другие ответы сервера всё равно дают Response.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720840" y="3200400"/>
            <a:ext cx="4553712" cy="1353312"/>
          </a:xfrm>
          <a:prstGeom prst="roundRect">
            <a:avLst>
              <a:gd name="adj" fmla="val 9459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32841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response.ok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767328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для статусов 200–299.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прикладного кода проверку обычно делают сразу после fetch.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720840" y="4892040"/>
            <a:ext cx="4553712" cy="658368"/>
          </a:xfrm>
          <a:prstGeom prst="roundRect">
            <a:avLst>
              <a:gd name="adj" fmla="val 16667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501091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транспорта и ошибка протокола — разные уровни.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должен договориться, что считать успехом.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AbortController отменяет ожидание и связанные операции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796A8"/>
          </a:solidFill>
          <a:ln w="12700">
            <a:solidFill>
              <a:srgbClr val="0796A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76072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431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4315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controller = new AbortController();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request = fetch('/api/search?q=js', {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signal: controller.signal,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cancelButton.addEventListener('click', () =&gt; {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controller.abort();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request;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(error.name === 'AbortError') return;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error;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6784848" y="1481328"/>
            <a:ext cx="420624" cy="420624"/>
          </a:xfrm>
          <a:prstGeom prst="ellipse">
            <a:avLst/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484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370064" y="1453896"/>
            <a:ext cx="3858768" cy="566928"/>
          </a:xfrm>
          <a:prstGeom prst="roundRect">
            <a:avLst>
              <a:gd name="adj" fmla="val 16129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8668512" y="15544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signal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784848" y="2450592"/>
            <a:ext cx="420624" cy="420624"/>
          </a:xfrm>
          <a:prstGeom prst="ellipse">
            <a:avLst/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84848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70064" y="2423160"/>
            <a:ext cx="3858768" cy="566928"/>
          </a:xfrm>
          <a:prstGeom prst="roundRect">
            <a:avLst>
              <a:gd name="adj" fmla="val 16129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16368" y="2523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8668512" y="252374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передаётся в fetch/listener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784848" y="3419856"/>
            <a:ext cx="420624" cy="420624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370064" y="3392424"/>
            <a:ext cx="3858768" cy="566928"/>
          </a:xfrm>
          <a:prstGeom prst="roundRect">
            <a:avLst>
              <a:gd name="adj" fmla="val 16129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16368" y="3493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abort()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668512" y="34930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сообщает об отмене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784848" y="4389120"/>
            <a:ext cx="420624" cy="420624"/>
          </a:xfrm>
          <a:prstGeom prst="ellipse">
            <a:avLst/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484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370064" y="4361688"/>
            <a:ext cx="3858768" cy="566928"/>
          </a:xfrm>
          <a:prstGeom prst="roundRect">
            <a:avLst>
              <a:gd name="adj" fmla="val 16129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1636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D9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8668512" y="4462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завершается с ошибкой отмены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748272" y="5458968"/>
            <a:ext cx="4517136" cy="530352"/>
          </a:xfrm>
          <a:prstGeom prst="roundRect">
            <a:avLst>
              <a:gd name="adj" fmla="val 20690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55504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Отмена — часть контракта: поиск, смена страницы,</a:t>
            </a:r>
            <a:endParaRPr lang="en-US" sz="9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уничтожение компонента, timeout.</a:t>
            </a:r>
            <a:endParaRPr lang="en-US" sz="99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TypeScript поверх JavaScript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4974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javascript.js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55648"/>
            <a:ext cx="497433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formatUser(user) {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user.name.toUpperCase();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formatUser({ name: 'Ada' });      // ok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formatUser({ title: 'Admin' });   // runtime error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formatUser(null);                 // runtime error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446520" y="1389888"/>
            <a:ext cx="2212848" cy="1371600"/>
          </a:xfrm>
          <a:prstGeom prst="roundRect">
            <a:avLst>
              <a:gd name="adj" fmla="val 9333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Опечатки в свойствах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95681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видна только при выполнении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897112" y="1389888"/>
            <a:ext cx="2212848" cy="1371600"/>
          </a:xfrm>
          <a:prstGeom prst="roundRect">
            <a:avLst>
              <a:gd name="adj" fmla="val 9333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9992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Неясные контракты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79992" y="195681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принимает функция и что возвращает?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46520" y="3035808"/>
            <a:ext cx="2212848" cy="1371600"/>
          </a:xfrm>
          <a:prstGeom prst="roundRect">
            <a:avLst>
              <a:gd name="adj" fmla="val 9333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1638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Рефакторинг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60273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связей держится на соглашениях и тестах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897112" y="3035808"/>
            <a:ext cx="2212848" cy="1371600"/>
          </a:xfrm>
          <a:prstGeom prst="roundRect">
            <a:avLst>
              <a:gd name="adj" fmla="val 9333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79992" y="31638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IDE-подсказки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79992" y="360273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типов редактор знает меньше о данных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46520" y="4818888"/>
            <a:ext cx="4663440" cy="859536"/>
          </a:xfrm>
          <a:prstGeom prst="roundRect">
            <a:avLst>
              <a:gd name="adj" fmla="val 14894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50109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добавляет статическую проверку и модель типов,</a:t>
            </a:r>
            <a:endParaRPr lang="en-US" sz="111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сохраняет семантику JavaScript.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исполняет JavaScript, а не TypeScript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13232" y="1691640"/>
            <a:ext cx="2971800" cy="3520440"/>
          </a:xfrm>
          <a:prstGeom prst="roundRect">
            <a:avLst>
              <a:gd name="adj" fmla="val 4615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423160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User {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user: User = {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42,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'Ada',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913632" y="3383280"/>
            <a:ext cx="1005840" cy="0"/>
          </a:xfrm>
          <a:prstGeom prst="line">
            <a:avLst/>
          </a:prstGeom>
          <a:noFill/>
          <a:ln w="22860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294436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1064" y="2967228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/ bundler</a:t>
            </a:r>
            <a:endParaRPr lang="en-US" sz="91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102352" y="1691640"/>
            <a:ext cx="2971800" cy="3520440"/>
          </a:xfrm>
          <a:prstGeom prst="roundRect">
            <a:avLst>
              <a:gd name="adj" fmla="val 4615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2423160"/>
            <a:ext cx="24871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42,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'Ada',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и аннотации</a:t>
            </a:r>
            <a:endParaRPr lang="en-US" sz="10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попали в runtime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302752" y="3383280"/>
            <a:ext cx="1005840" cy="0"/>
          </a:xfrm>
          <a:prstGeom prst="line">
            <a:avLst/>
          </a:prstGeom>
          <a:noFill/>
          <a:ln w="22860">
            <a:solidFill>
              <a:srgbClr val="16A3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2331720"/>
            <a:ext cx="2011680" cy="2029968"/>
          </a:xfrm>
          <a:prstGeom prst="roundRect">
            <a:avLst>
              <a:gd name="adj" fmla="val 6818"/>
            </a:avLst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74352" y="31272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парсит и выполняет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JavaScript-модули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74243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существуют во время анализа проекта, а не в браузерном runtime.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Компиляция: parse → type check → emit JavaScript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9344" y="1463040"/>
            <a:ext cx="457200" cy="45720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93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21408"/>
            <a:ext cx="2423160" cy="1554480"/>
          </a:xfrm>
          <a:prstGeom prst="roundRect">
            <a:avLst>
              <a:gd name="adj" fmla="val 8235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3774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529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TS/JS → syntax tree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9816" y="2880360"/>
            <a:ext cx="338328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43984" y="1463040"/>
            <a:ext cx="457200" cy="457200"/>
          </a:xfrm>
          <a:prstGeom prst="ellipse">
            <a:avLst/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2121408"/>
            <a:ext cx="2423160" cy="1554480"/>
          </a:xfrm>
          <a:prstGeom prst="roundRect">
            <a:avLst>
              <a:gd name="adj" fmla="val 8235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75888" y="23774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+ check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75888" y="28529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символы и совместимость типов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34456" y="2880360"/>
            <a:ext cx="338328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78624" y="1463040"/>
            <a:ext cx="457200" cy="45720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27648" y="2121408"/>
            <a:ext cx="2423160" cy="1554480"/>
          </a:xfrm>
          <a:prstGeom prst="roundRect">
            <a:avLst>
              <a:gd name="adj" fmla="val 8235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23774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28529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 под target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69096" y="2880360"/>
            <a:ext cx="338328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13264" y="1463040"/>
            <a:ext cx="457200" cy="457200"/>
          </a:xfrm>
          <a:prstGeom prst="ellipse">
            <a:avLst/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1326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62288" y="2121408"/>
            <a:ext cx="2423160" cy="1554480"/>
          </a:xfrm>
          <a:prstGeom prst="roundRect">
            <a:avLst>
              <a:gd name="adj" fmla="val 8235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45168" y="23774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45168" y="28529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+ sourcemap + declarations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4315968"/>
            <a:ext cx="484632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4712" y="4407408"/>
            <a:ext cx="4517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compiler-options.json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" y="4700016"/>
            <a:ext cx="4517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target: "ES2020"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 = user?.profile?.title ?? 'Guest';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target: "ES5" — compiler может понизить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часть синтаксиса до старого JavaScript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144768" y="4315968"/>
            <a:ext cx="2487168" cy="1261872"/>
          </a:xfrm>
          <a:prstGeom prst="roundRect">
            <a:avLst>
              <a:gd name="adj" fmla="val 10145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444398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erasure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27648" y="4882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Аннотации, interface, type и generics не существуют в output.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869680" y="4315968"/>
            <a:ext cx="2487168" cy="1261872"/>
          </a:xfrm>
          <a:prstGeom prst="roundRect">
            <a:avLst>
              <a:gd name="adj" fmla="val 10145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52560" y="444398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полифилл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052560" y="4882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Компилятор меняет синтаксис, но не добавляет автоматически все runtime API.</a:t>
            </a:r>
            <a:endParaRPr lang="en-US" sz="102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Обычное веб-приложение можно писать на TypeScript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3017520" cy="4343400"/>
          </a:xfrm>
          <a:prstGeom prst="roundRect">
            <a:avLst>
              <a:gd name="adj" fmla="val 4242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00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075688"/>
            <a:ext cx="254203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tsconfig.json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main.ts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api.ts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dist/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main.js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api.js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41648" y="1371600"/>
            <a:ext cx="3675888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1463040"/>
            <a:ext cx="3346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86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75564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type="module" src="./dist/main.js"&gt;&lt;/script&gt;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041648" y="2880360"/>
            <a:ext cx="4773168" cy="283464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2971800"/>
            <a:ext cx="4443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main.ts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264408"/>
            <a:ext cx="44439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src/main.ts</a:t>
            </a: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loadUser } from './api.js';</a:t>
            </a: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document.querySelector&lt;HTMLButtonElement&gt;('#load');</a:t>
            </a: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button?.addEventListener('click', async () =&gt; {</a:t>
            </a: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loadUser(42);</a:t>
            </a: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console.log(user.name);</a:t>
            </a:r>
            <a:endParaRPr lang="en-US" sz="9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194560" cy="1234440"/>
          </a:xfrm>
          <a:prstGeom prst="roundRect">
            <a:avLst>
              <a:gd name="adj" fmla="val 1037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499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install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1938528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 -D typescript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098280" y="2880360"/>
            <a:ext cx="2194560" cy="1234440"/>
          </a:xfrm>
          <a:prstGeom prst="roundRect">
            <a:avLst>
              <a:gd name="adj" fmla="val 1037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3008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build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447288"/>
            <a:ext cx="182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tsc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tsc --watch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098280" y="4389120"/>
            <a:ext cx="2194560" cy="1325880"/>
          </a:xfrm>
          <a:prstGeom prst="roundRect">
            <a:avLst>
              <a:gd name="adj" fmla="val 9655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4517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serve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4956048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Открывать через локальный HTTP-сервер, а не file://.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tsconfig.json фиксирует правила проекта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4928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tsconfig.json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49286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"compilerOptions": {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"target": "ES2022",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"module": "ES2022",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"strict": true,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"rootDir": "src",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"outDir": "dist",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"sourceMap": true,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"noEmitOnError": true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"include": ["src"]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304288" cy="1188720"/>
          </a:xfrm>
          <a:prstGeom prst="roundRect">
            <a:avLst>
              <a:gd name="adj" fmla="val 10769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49961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3852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синтаксис JavaScript emit-ить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851392" y="1371600"/>
            <a:ext cx="2304288" cy="1188720"/>
          </a:xfrm>
          <a:prstGeom prst="roundRect">
            <a:avLst>
              <a:gd name="adj" fmla="val 10769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4272" y="149961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34272" y="193852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систему модулей сохранить/создать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09360" y="2798064"/>
            <a:ext cx="2304288" cy="1188720"/>
          </a:xfrm>
          <a:prstGeom prst="roundRect">
            <a:avLst>
              <a:gd name="adj" fmla="val 10769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9260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3649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строгих проверок, включая nullability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851392" y="2798064"/>
            <a:ext cx="2304288" cy="1188720"/>
          </a:xfrm>
          <a:prstGeom prst="roundRect">
            <a:avLst>
              <a:gd name="adj" fmla="val 10769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4272" y="292608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rootDir / outDir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34272" y="33649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исходники и куда писать output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309360" y="4224528"/>
            <a:ext cx="2304288" cy="1188720"/>
          </a:xfrm>
          <a:prstGeom prst="roundRect">
            <a:avLst>
              <a:gd name="adj" fmla="val 10769"/>
            </a:avLst>
          </a:prstGeom>
          <a:solidFill>
            <a:srgbClr val="E8F7FA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35254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79145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глобальные API известны checker-у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851392" y="4224528"/>
            <a:ext cx="2304288" cy="1188720"/>
          </a:xfrm>
          <a:prstGeom prst="roundRect">
            <a:avLst>
              <a:gd name="adj" fmla="val 10769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34272" y="435254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sourceMap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34272" y="479145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runtime stack trace с исходным .ts</a:t>
            </a:r>
            <a:endParaRPr lang="en-US" sz="102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565099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Начинайте со strict: ослаблять отдельное правило проще, чем искать скрытые null/any позже.</a:t>
            </a:r>
            <a:endParaRPr lang="en-US" sz="10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выводит типы — аннотации нужны на границах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340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inference.ts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 = 3;              // number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 = 'Orders';       // literal type "Orders"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tags = ['paid', 'new']; // string[]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total(prices: number[])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prices.reduce((sum, price) =&gt; sum + price, 0);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 type: number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total([100, 250]);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2148840" cy="1417320"/>
          </a:xfrm>
          <a:prstGeom prst="roundRect">
            <a:avLst>
              <a:gd name="adj" fmla="val 903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5453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типов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84248"/>
            <a:ext cx="1783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переменные и return часто не требуют явной аннотации.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25712" y="1417320"/>
            <a:ext cx="2148840" cy="1417320"/>
          </a:xfrm>
          <a:prstGeom prst="roundRect">
            <a:avLst>
              <a:gd name="adj" fmla="val 9032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8592" y="15453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Аннотации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08592" y="1984248"/>
            <a:ext cx="1783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Полезны у параметров, публичных API и сложных структур.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720840" y="3218688"/>
            <a:ext cx="4553712" cy="1371600"/>
          </a:xfrm>
          <a:prstGeom prst="roundRect">
            <a:avLst>
              <a:gd name="adj" fmla="val 9333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34670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дублируйте очевидное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785616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age: number = 42 обычно не добавляет информации.</a:t>
            </a:r>
            <a:endParaRPr lang="en-US" sz="102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лучше вывести автоматически.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720840" y="4919472"/>
            <a:ext cx="4553712" cy="658368"/>
          </a:xfrm>
          <a:prstGeom prst="roundRect">
            <a:avLst>
              <a:gd name="adj" fmla="val 16667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5029200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Хорошая типизация описывает контракт,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заставляет подписать каждую переменную.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Базовые, литеральные типы и коллекции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53312"/>
            <a:ext cx="3383280" cy="960120"/>
          </a:xfrm>
          <a:prstGeom prst="roundRect">
            <a:avLst>
              <a:gd name="adj" fmla="val 12381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14996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813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"Ada"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453128" y="1353312"/>
            <a:ext cx="3383280" cy="960120"/>
          </a:xfrm>
          <a:prstGeom prst="roundRect">
            <a:avLst>
              <a:gd name="adj" fmla="val 12381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4996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14813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· 3.14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220456" y="1353312"/>
            <a:ext cx="3383280" cy="960120"/>
          </a:xfrm>
          <a:prstGeom prst="roundRect">
            <a:avLst>
              <a:gd name="adj" fmla="val 12381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5048" y="14996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9820656" y="14813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/ false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2560320"/>
            <a:ext cx="3383280" cy="960120"/>
          </a:xfrm>
          <a:prstGeom prst="roundRect">
            <a:avLst>
              <a:gd name="adj" fmla="val 12381"/>
            </a:avLst>
          </a:prstGeom>
          <a:solidFill>
            <a:srgbClr val="FEF3F2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D9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/ undefined</a:t>
            </a:r>
            <a:endParaRPr lang="en-US" sz="114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26883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значения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53128" y="2560320"/>
            <a:ext cx="3383280" cy="960120"/>
          </a:xfrm>
          <a:prstGeom prst="roundRect">
            <a:avLst>
              <a:gd name="adj" fmla="val 12381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140" dirty="0"/>
          </a:p>
        </p:txBody>
      </p:sp>
      <p:sp>
        <p:nvSpPr>
          <p:cNvPr id="21" name="Text 19"/>
          <p:cNvSpPr txBox="1"/>
          <p:nvPr/>
        </p:nvSpPr>
        <p:spPr>
          <a:xfrm>
            <a:off x="6053328" y="26883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неизвестно — сначала проверить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220456" y="2560320"/>
            <a:ext cx="3383280" cy="960120"/>
          </a:xfrm>
          <a:prstGeom prst="roundRect">
            <a:avLst>
              <a:gd name="adj" fmla="val 12381"/>
            </a:avLst>
          </a:prstGeom>
          <a:solidFill>
            <a:srgbClr val="F8FAFC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85048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9820656" y="26883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невозможный результат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566928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" y="4251960"/>
            <a:ext cx="5340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types.ts</a:t>
            </a:r>
            <a:endParaRPr lang="en-US" sz="860" dirty="0"/>
          </a:p>
        </p:txBody>
      </p:sp>
      <p:sp>
        <p:nvSpPr>
          <p:cNvPr id="27" name="Text 25"/>
          <p:cNvSpPr txBox="1"/>
          <p:nvPr/>
        </p:nvSpPr>
        <p:spPr>
          <a:xfrm>
            <a:off x="850392" y="4544568"/>
            <a:ext cx="53400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Status = 'idle' | 'loading' | 'success' | 'error';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statuses: Status[] = ['idle', 'loading'];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point: readonly [number, number] = [10, 20];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setStatus(status: Status) {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только четыре допустимых строки</a:t>
            </a:r>
            <a:endParaRPr lang="en-US" sz="9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720840" y="4160520"/>
            <a:ext cx="2139696" cy="1572768"/>
          </a:xfrm>
          <a:prstGeom prst="roundRect">
            <a:avLst>
              <a:gd name="adj" fmla="val 814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28853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Literal types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4727448"/>
            <a:ext cx="17739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может описывать конкретные значения, а не только string/number.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125712" y="4160520"/>
            <a:ext cx="2139696" cy="1572768"/>
          </a:xfrm>
          <a:prstGeom prst="roundRect">
            <a:avLst>
              <a:gd name="adj" fmla="val 814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08592" y="428853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&amp; tuples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08592" y="4727448"/>
            <a:ext cx="17739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T[] — коллекция одного типа; tuple фиксирует позиции и длину.</a:t>
            </a:r>
            <a:endParaRPr lang="en-US" sz="10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Объектные типы: interface, optional и readonly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57784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248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objects.ts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2486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User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readonly id: number;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email?: string;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UserId = User['id'];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UserPatch = Partial&lt;Pick&lt;User, 'name' | 'email'&gt;&gt;;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updateUser(id: UserId, patch: UserPatch) {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0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601968" y="1417320"/>
            <a:ext cx="2267712" cy="1417320"/>
          </a:xfrm>
          <a:prstGeom prst="roundRect">
            <a:avLst>
              <a:gd name="adj" fmla="val 9032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4848" y="15453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984248"/>
            <a:ext cx="1901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Именует форму объекта и может расширяться через extends.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25712" y="1417320"/>
            <a:ext cx="2267712" cy="1417320"/>
          </a:xfrm>
          <a:prstGeom prst="roundRect">
            <a:avLst>
              <a:gd name="adj" fmla="val 9032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8592" y="15453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alias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08592" y="1984248"/>
            <a:ext cx="1901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Именует любой тип: object, union, tuple, function и производные.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601968" y="3200400"/>
            <a:ext cx="2267712" cy="1417320"/>
          </a:xfrm>
          <a:prstGeom prst="roundRect">
            <a:avLst>
              <a:gd name="adj" fmla="val 9032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4848" y="332841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767328"/>
            <a:ext cx="1901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Свойство может отсутствовать; при strictNullChecks чтение даёт T | undefined.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25712" y="3200400"/>
            <a:ext cx="2267712" cy="1417320"/>
          </a:xfrm>
          <a:prstGeom prst="roundRect">
            <a:avLst>
              <a:gd name="adj" fmla="val 903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8592" y="332841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readonly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3767328"/>
            <a:ext cx="1901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Запрещает присваивание через этот тип, но не делает runtime-объект неизменяемым.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601968" y="4983480"/>
            <a:ext cx="4791456" cy="585216"/>
          </a:xfrm>
          <a:prstGeom prst="roundRect">
            <a:avLst>
              <a:gd name="adj" fmla="val 18750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4848" y="5084064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использует structural typing: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важна форма значения, а не имя класса.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NARROWING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types описывают варианты, guards сужают тип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385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narrowing.ts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3858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Result =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status: 'success'; data: User[] }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status: 'error'; message: string }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status: 'loading' };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render(result: Result) {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(result.status) {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'success':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renderUsers(result.data);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'error':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showError(result.message);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'loading':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showSpinner();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675120" y="1417320"/>
            <a:ext cx="2139696" cy="1115568"/>
          </a:xfrm>
          <a:prstGeom prst="roundRect">
            <a:avLst>
              <a:gd name="adj" fmla="val 11475"/>
            </a:avLst>
          </a:prstGeom>
          <a:solidFill>
            <a:srgbClr val="EEF4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54533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842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values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139696" cy="1115568"/>
          </a:xfrm>
          <a:prstGeom prst="roundRect">
            <a:avLst>
              <a:gd name="adj" fmla="val 11475"/>
            </a:avLst>
          </a:prstGeom>
          <a:solidFill>
            <a:srgbClr val="ECFDF3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54533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19842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exists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675120" y="2770632"/>
            <a:ext cx="2139696" cy="1115568"/>
          </a:xfrm>
          <a:prstGeom prst="roundRect">
            <a:avLst>
              <a:gd name="adj" fmla="val 11475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28986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instanceof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33756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class/prototype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052560" y="2770632"/>
            <a:ext cx="2139696" cy="1115568"/>
          </a:xfrm>
          <a:prstGeom prst="roundRect">
            <a:avLst>
              <a:gd name="adj" fmla="val 11475"/>
            </a:avLst>
          </a:prstGeom>
          <a:solidFill>
            <a:srgbClr val="FFF1EB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28986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33756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User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675120" y="4343400"/>
            <a:ext cx="4517136" cy="1124712"/>
          </a:xfrm>
          <a:prstGeom prst="roundRect">
            <a:avLst>
              <a:gd name="adj" fmla="val 11382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76288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Discriminated union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48920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литеральное поле status позволяет checker-у точно определить доступные свойства каждого варианта.</a:t>
            </a:r>
            <a:endParaRPr lang="en-US" sz="99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579729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— это runtime-проверка, которая одновременно даёт TypeScript доказательство о типе.</a:t>
            </a:r>
            <a:endParaRPr lang="en-US" sz="10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219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530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сохраняют связь между входом и результатом</a:t>
            </a:r>
            <a:endParaRPr lang="en-US" sz="2350" dirty="0"/>
          </a:p>
        </p:txBody>
      </p:sp>
      <p:sp>
        <p:nvSpPr>
          <p:cNvPr id="4" name="Text 2"/>
          <p:cNvSpPr txBox="1"/>
          <p:nvPr/>
        </p:nvSpPr>
        <p:spPr>
          <a:xfrm>
            <a:off x="1083564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35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76072" y="1033272"/>
            <a:ext cx="11036808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6A36B"/>
          </a:solidFill>
          <a:ln w="12700">
            <a:solidFill>
              <a:srgbClr val="16A36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53312"/>
            <a:ext cx="5897880" cy="45262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44752"/>
            <a:ext cx="5568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generics.ts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55686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first&lt;T&gt;(items: readonly T[]): T | undefined {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items[0];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first(['Ada', 'Grace']); // string | undefined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 = first([10, 20]);           // number | undefined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fetchJson&lt;T&gt;(url: string): Promise&lt;T&gt; {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fetch(url);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(!response.ok) throw new Error(String(response.status));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response.json() as Promise&lt;T&gt;;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document.querySelector&lt;HTMLButtonElement&gt;('#save');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76288" y="1417320"/>
            <a:ext cx="2103120" cy="1325880"/>
          </a:xfrm>
          <a:prstGeom prst="roundRect">
            <a:avLst>
              <a:gd name="adj" fmla="val 9655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5453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параметр типа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984248"/>
            <a:ext cx="1737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Конкретный тип подставляется при вызове и связывает части контракта.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89720" y="1417320"/>
            <a:ext cx="2103120" cy="1325880"/>
          </a:xfrm>
          <a:prstGeom prst="roundRect">
            <a:avLst>
              <a:gd name="adj" fmla="val 9655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15453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generics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1984248"/>
            <a:ext cx="1737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querySelector&lt;T&gt; уточняет ожидаемый Element, но результат всё ещё T | null.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876288" y="3035808"/>
            <a:ext cx="4416552" cy="1325880"/>
          </a:xfrm>
          <a:prstGeom prst="roundRect">
            <a:avLst>
              <a:gd name="adj" fmla="val 9655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316382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Важное ограничение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3602736"/>
            <a:ext cx="40507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fetchJson&lt;T&gt; не проверяет JSON в runtime. T — обещание разработчика; внешние данные нужно валидировать отдельно.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876288" y="4663440"/>
            <a:ext cx="4416552" cy="1051560"/>
          </a:xfrm>
          <a:prstGeom prst="roundRect">
            <a:avLst>
              <a:gd name="adj" fmla="val 12174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4791456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Мост к React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5230368"/>
            <a:ext cx="4050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и object types появятся в props, state, hooks, событиях и типах API — без смены базовой модели.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120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6C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ЗАНЯТИЯ</a:t>
            </a:r>
            <a:endParaRPr lang="en-US" sz="96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 и TypeScript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модели, которые делают браузерный код предсказуемее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2459736"/>
            <a:ext cx="393192" cy="3931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5973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4231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loop</a:t>
            </a:r>
            <a:endParaRPr lang="en-US" sz="122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24231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выполняется до конца, затем очищаются microtasks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373368" y="2459736"/>
            <a:ext cx="393192" cy="393192"/>
          </a:xfrm>
          <a:prstGeom prst="ellipse">
            <a:avLst/>
          </a:prstGeom>
          <a:solidFill>
            <a:srgbClr val="16A36B"/>
          </a:solidFill>
          <a:ln w="12700">
            <a:solidFill>
              <a:srgbClr val="16A3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245973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6940296" y="24231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1220" dirty="0"/>
          </a:p>
        </p:txBody>
      </p:sp>
      <p:sp>
        <p:nvSpPr>
          <p:cNvPr id="12" name="Text 10"/>
          <p:cNvSpPr txBox="1"/>
          <p:nvPr/>
        </p:nvSpPr>
        <p:spPr>
          <a:xfrm>
            <a:off x="8202168" y="24231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будущий результат, цепочки, единый поток ошибок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49808" y="3529584"/>
            <a:ext cx="393192" cy="393192"/>
          </a:xfrm>
          <a:prstGeom prst="ellipse">
            <a:avLst/>
          </a:prstGeom>
          <a:solidFill>
            <a:srgbClr val="0796A8"/>
          </a:solidFill>
          <a:ln w="12700">
            <a:solidFill>
              <a:srgbClr val="0796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5295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4930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220" dirty="0"/>
          </a:p>
        </p:txBody>
      </p:sp>
      <p:sp>
        <p:nvSpPr>
          <p:cNvPr id="16" name="Text 14"/>
          <p:cNvSpPr txBox="1"/>
          <p:nvPr/>
        </p:nvSpPr>
        <p:spPr>
          <a:xfrm>
            <a:off x="2578608" y="34930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Response, проверка HTTP-статуса и AbortController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373368" y="3529584"/>
            <a:ext cx="393192" cy="393192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3368" y="35295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940296" y="34930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20" dirty="0"/>
          </a:p>
        </p:txBody>
      </p:sp>
      <p:sp>
        <p:nvSpPr>
          <p:cNvPr id="20" name="Text 18"/>
          <p:cNvSpPr txBox="1"/>
          <p:nvPr/>
        </p:nvSpPr>
        <p:spPr>
          <a:xfrm>
            <a:off x="8202168" y="34930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контракты до запуска и emit-ит JavaScript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49808" y="4599432"/>
            <a:ext cx="393192" cy="393192"/>
          </a:xfrm>
          <a:prstGeom prst="ellipse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5994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2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4562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</a:t>
            </a:r>
            <a:endParaRPr lang="en-US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45628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interface, union, guards и generics описывают варианты данных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373368" y="4599432"/>
            <a:ext cx="393192" cy="393192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3368" y="45994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6940296" y="4562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6C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220" dirty="0"/>
          </a:p>
        </p:txBody>
      </p:sp>
      <p:sp>
        <p:nvSpPr>
          <p:cNvPr id="28" name="Text 26"/>
          <p:cNvSpPr txBox="1"/>
          <p:nvPr/>
        </p:nvSpPr>
        <p:spPr>
          <a:xfrm>
            <a:off x="8202168" y="45628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использует те же Promise, DOM-события и TypeScript-контракты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76656" y="5806440"/>
            <a:ext cx="10799064" cy="0"/>
          </a:xfrm>
          <a:prstGeom prst="line">
            <a:avLst/>
          </a:prstGeom>
          <a:noFill/>
          <a:ln w="11430">
            <a:solidFill>
              <a:srgbClr val="2635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6016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применять эти модели в компонентном интерфейсе — React + TypeScript.</a:t>
            </a:r>
            <a:endParaRPr lang="en-US" sz="1140" dirty="0"/>
          </a:p>
        </p:txBody>
      </p:sp>
      <p:sp>
        <p:nvSpPr>
          <p:cNvPr id="31" name="Text 29"/>
          <p:cNvSpPr txBox="1"/>
          <p:nvPr/>
        </p:nvSpPr>
        <p:spPr>
          <a:xfrm>
            <a:off x="10808208" y="6364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9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56032"/>
            <a:ext cx="71323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5238</Words>
  <Application>Microsoft Macintosh PowerPoint</Application>
  <PresentationFormat>Широкоэкранный</PresentationFormat>
  <Paragraphs>915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Яндекс Еда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— асинхронность и TypeScript</dc:title>
  <dc:subject>JavaScript: асинхронность и TypeScript</dc:subject>
  <dc:creator>Максим</dc:creator>
  <cp:lastModifiedBy>Maksim Drobyshev</cp:lastModifiedBy>
  <cp:revision>3</cp:revision>
  <dcterms:created xsi:type="dcterms:W3CDTF">2026-10-10T06:33:29Z</dcterms:created>
  <dcterms:modified xsi:type="dcterms:W3CDTF">2026-10-14T09:12:55Z</dcterms:modified>
</cp:coreProperties>
</file>